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Welcome. Today I am presenting the Logistics Object Detection &amp; Reasoning API—an end-to-end computer vision and deterministic reasoning system built for warehouse automation.</a:t>
            </a:r>
          </a:p>
          <a:p/>
          <a:p>
            <a:r>
              <a:t>TECHNICAL SUMMARY:</a:t>
            </a:r>
          </a:p>
          <a:p>
            <a:r>
              <a:t>This project fine-tunes an RT-DETR-L vision transformer across 5 logistics domain classes, implements a custom 4-stage post-processing guardrail, builds a deterministic natural-language reasoning API, containerizes the stack via Docker, and deploys it live on AWS EC2 with Terraform.</a:t>
            </a:r>
          </a:p>
          <a:p/>
          <a:p>
            <a:r>
              <a:t>DEFENSE Q&amp;A:</a:t>
            </a:r>
          </a:p>
          <a:p>
            <a:r>
              <a:t>Q: Why build an end-to-end system instead of just training an object detection model?</a:t>
            </a:r>
          </a:p>
          <a:p>
            <a:r>
              <a:t>A: In real-world ML engineering, a raw model checkpoint is insufficient. Production deployment requires domain post-processing (to eliminate sub-region duplicates), structured API contracts, confidence guardrails to prevent hallucination, containerization, and cloud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Warehouses are complex environments. Standard COCO object detectors fail on custom domain classes like wood pallets and struggle with dense box stacking. Furthermore, business users want to ask natural language questions without risk of AI hallucination.</a:t>
            </a:r>
          </a:p>
          <a:p/>
          <a:p>
            <a:r>
              <a:t>TECHNICAL EXPLANATION:</a:t>
            </a:r>
          </a:p>
          <a:p>
            <a:r>
              <a:t>Our objective was dual-fold: 1) Extract high-precision logistics bounding boxes, and 2) Build a bounded, deterministic reasoning layer that refuses to answer when visual evidence is insufficient.</a:t>
            </a:r>
          </a:p>
          <a:p/>
          <a:p>
            <a:r>
              <a:t>DEFENSE Q&amp;A:</a:t>
            </a:r>
          </a:p>
          <a:p>
            <a:r>
              <a:t>Q: Why include wood pallet as a primary class?</a:t>
            </a:r>
          </a:p>
          <a:p>
            <a:r>
              <a:t>A: Wood pallets are ubiquitous in supply chains but missing from COCO's 80 classes. Transfer learning on domain-specific logistics data was essential.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Here is our end-to-end architecture. The solution exposes two primary endpoints: /detect for structured bounding boxes, and /ask for natural language query processing.</a:t>
            </a:r>
          </a:p>
          <a:p/>
          <a:p>
            <a:r>
              <a:t>TECHNICAL EXPLANATION:</a:t>
            </a:r>
          </a:p>
          <a:p>
            <a:r>
              <a:t>Traffic enters through Nginx on Port 80, proxied internally to FastAPI on Port 7860. Detections pass through a 4-stage post-processing pipeline before entering the intent-routed reasoning engine.</a:t>
            </a:r>
          </a:p>
          <a:p/>
          <a:p>
            <a:r>
              <a:t>DEFENSE Q&amp;A:</a:t>
            </a:r>
          </a:p>
          <a:p>
            <a:r>
              <a:t>Q: Why decouple /detect and /ask instead of combining them into one endpoint?</a:t>
            </a:r>
          </a:p>
          <a:p>
            <a:r>
              <a:t>A: Modular design allows frontend clients to retrieve raw bounding box overlays independently, cache detection results, or run downstream analytics without re-invoking the reasoning parser.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Our dataset comprises 2,500 total images evenly divided across 5 core logistics classes: cardboard box, forklift, freight container, wood pallet, and truck.</a:t>
            </a:r>
          </a:p>
          <a:p/>
          <a:p>
            <a:r>
              <a:t>TECHNICAL EXPLANATION:</a:t>
            </a:r>
          </a:p>
          <a:p>
            <a:r>
              <a:t>The data split strictly separates 1,500 training, 500 validation, and 500 held-out test images. Sampling ensured 300 training images and 100 evaluation images per class filter.</a:t>
            </a:r>
          </a:p>
          <a:p/>
          <a:p>
            <a:r>
              <a:t>DEFENSE Q&amp;A:</a:t>
            </a:r>
          </a:p>
          <a:p>
            <a:r>
              <a:t>Q: Do these numbers imply strictly single-class images?</a:t>
            </a:r>
          </a:p>
          <a:p>
            <a:r>
              <a:t>A: No, images are sampled based on primary class filters, meaning multi-object logistics scenes contain natural co-occurrences while ensuring balanced class representation across splits.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We selected RT-DETR-L, a Real-Time DEtection TRansformer developed by Baidu and implemented in Ultralytics. Unlike anchor-based CNNs, RT-DETR uses transformer decoders with learned object queries.</a:t>
            </a:r>
          </a:p>
          <a:p/>
          <a:p>
            <a:r>
              <a:t>TECHNICAL EXPLANATION:</a:t>
            </a:r>
          </a:p>
          <a:p>
            <a:r>
              <a:t>The HGNet-v2 backbone extracts hierarchical features, processed through a hybrid encoder. The transformer decoder matches object queries directly to ground truth bounding boxes.</a:t>
            </a:r>
          </a:p>
          <a:p/>
          <a:p>
            <a:r>
              <a:t>DEFENSE Q&amp;A:</a:t>
            </a:r>
          </a:p>
          <a:p>
            <a:r>
              <a:t>Q: Why choose RT-DETR over YOLOv8?</a:t>
            </a:r>
          </a:p>
          <a:p>
            <a:r>
              <a:t>A: RT-DETR combines transformer global context awareness with near-YOLO inference speeds, eliminating anchor box heuristics and providing superior bounding box localization for large logistics assets.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Here is our experiment configuration dashboard. Training was executed locally on an NVIDIA RTX 3050 GPU for 3,235 seconds (~54 minutes).</a:t>
            </a:r>
          </a:p>
          <a:p/>
          <a:p>
            <a:r>
              <a:t>TECHNICAL EXPLANATION:</a:t>
            </a:r>
          </a:p>
          <a:p>
            <a:r>
              <a:t>While 50 epochs were configured, training was completed at epoch 10. The deployed best.pt checkpoint corresponds to epoch 1 (epoch0.pt), which achieved the highest Ultralytics validation fitness (0.40391).</a:t>
            </a:r>
          </a:p>
          <a:p/>
          <a:p>
            <a:r>
              <a:t>DEFENSE Q&amp;A:</a:t>
            </a:r>
          </a:p>
          <a:p>
            <a:r>
              <a:t>Q: Why is best.pt from Epoch 1 instead of Epoch 10?</a:t>
            </a:r>
          </a:p>
          <a:p>
            <a:r>
              <a:t>A: Ultralytics evaluates fitness as a weighted combination of mAP50 and mAP50-95. Epoch 1 achieved optimal validation generalization (fitness 0.40391) before subtle validation degradation occurred in later epochs.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Evaluating on 500 held-out test images, the system achieves an overall mAP@0.5 of 50.40% and mAP@0.5:0.95 of 34.08%.</a:t>
            </a:r>
          </a:p>
          <a:p/>
          <a:p>
            <a:r>
              <a:t>TECHNICAL EXPLANATION:</a:t>
            </a:r>
          </a:p>
          <a:p>
            <a:r>
              <a:t>Performance varies across domain classes: wood pallet achieves 67.08% mAP50, truck 65.15%, forklift 61.51%, cardboard box 41.44%, and freight container 16.83%. Precision is 57.34% and recall is 48.73%.</a:t>
            </a:r>
          </a:p>
          <a:p/>
          <a:p>
            <a:r>
              <a:t>DEFENSE Q&amp;A:</a:t>
            </a:r>
          </a:p>
          <a:p>
            <a:r>
              <a:t>Q: Why is mAP@0.5:0.95 lower than mAP@0.5?</a:t>
            </a:r>
          </a:p>
          <a:p>
            <a:r>
              <a:t>A: mAP@0.5:0.95 evaluates bounding box accuracy across 10 strict IoU thresholds up to 0.95, penalizing slightly loose boundary predictions.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Rather than masking model shortcomings, we systematically diagnosed where the raw detector fails. This empirical failure analysis directly motivated our custom post-processing rules.</a:t>
            </a:r>
          </a:p>
          <a:p/>
          <a:p>
            <a:r>
              <a:t>TECHNICAL EXPLANATION:</a:t>
            </a:r>
          </a:p>
          <a:p>
            <a:r>
              <a:t>We identified 5 primary failure modes: internal nested boxes, cross-class overlaps, container body fragmentation (causing 16.83% mAP), cardboard box recall loss (28.30%), and low-confidence border artifacts.</a:t>
            </a:r>
          </a:p>
          <a:p/>
          <a:p>
            <a:r>
              <a:t>DEFENSE Q&amp;A:</a:t>
            </a:r>
          </a:p>
          <a:p>
            <a:r>
              <a:t>Q: Why did freight container perform poorly?</a:t>
            </a:r>
          </a:p>
          <a:p>
            <a:r>
              <a:t>A: Freight containers exhibit massive aspect ratio variations, surface occlusions, and severe visual ambiguity with truck trailers, causing raw DETR queries to split containers into sub-boxes.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To fix the 5 failure modes discovered during evaluation, we engineered a deterministic 4-stage post-processing pipeline.</a:t>
            </a:r>
          </a:p>
          <a:p/>
          <a:p>
            <a:r>
              <a:t>TECHNICAL EXPLANATION:</a:t>
            </a:r>
          </a:p>
          <a:p>
            <a:r>
              <a:t>Raw detections are processed sequentially: Class NMS (IoU 0.45), Containment Suppression using Intersection over Smallest (IoS 0.65), Boundary Filtering, and Cross-Class IoU (0.80). The pipeline is fully verified by 48 passing unit tests.</a:t>
            </a:r>
          </a:p>
          <a:p/>
          <a:p>
            <a:r>
              <a:t>DEFENSE Q&amp;A:</a:t>
            </a:r>
          </a:p>
          <a:p>
            <a:r>
              <a:t>Q: Why use IoS (Intersection over Smallest) instead of standard IoU?</a:t>
            </a:r>
          </a:p>
          <a:p>
            <a:r>
              <a:t>A: When a small sub-box is completely inside a large box, standard IoU is low because the large box area dominates the denominator. IoS measures containment directly, suppressing internal sub-box clutter.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Our reasoning engine routes natural language questions into 6 deterministic intents. It relies on strict pattern matching without external LLM dependencies, ensuring sub-millisecond latency and zero hallucination.</a:t>
            </a:r>
          </a:p>
          <a:p/>
          <a:p>
            <a:r>
              <a:t>TECHNICAL EXPLANATION:</a:t>
            </a:r>
          </a:p>
          <a:p>
            <a:r>
              <a:t>Questions are parsed into COUNT, PRESENCE, LIST, MOST_COMMON, SPATIAL, or UNKNOWN intents. Detections below 0.25 confidence are dropped, and low-confidence visual evidence triggers an explicit refusal message.</a:t>
            </a:r>
          </a:p>
          <a:p/>
          <a:p>
            <a:r>
              <a:t>DEFENSE Q&amp;A:</a:t>
            </a:r>
          </a:p>
          <a:p>
            <a:r>
              <a:t>Q: Why avoid LLMs or agent frameworks like LangChain?</a:t>
            </a:r>
          </a:p>
          <a:p>
            <a:r>
              <a:t>A: Assignment rules prohibited non-deterministic APIs. Our deterministic engine guarantees zero hallucination, sub-millisecond execution, and 100% reproducible JSON responses.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Here is our production deployment architecture on AWS EC2. Nginx acts as the public ingress on Port 80, proxying clean traffic to the containerized FastAPI server on Port 7860.</a:t>
            </a:r>
          </a:p>
          <a:p/>
          <a:p>
            <a:r>
              <a:t>TECHNICAL EXPLANATION:</a:t>
            </a:r>
          </a:p>
          <a:p>
            <a:r>
              <a:t>Application Port 7860 is kept private inside the Docker network. Infrastructure is provisioned via Terraform, configuring Security Group ingress rules (22 admin, 80 public, 443 reserved).</a:t>
            </a:r>
          </a:p>
          <a:p/>
          <a:p>
            <a:r>
              <a:t>DEFENSE Q&amp;A:</a:t>
            </a:r>
          </a:p>
          <a:p>
            <a:r>
              <a:t>Q: Why keep Port 7860 closed publicly?</a:t>
            </a:r>
          </a:p>
          <a:p>
            <a:r>
              <a:t>A: Exposing application ports directly to the Internet bypasses Nginx rate limiting, buffer management, and security header controls. Port 7860 remains strictly internal.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Here are the actual JSON contracts returned by our production API endpoints. Both /detect and /ask provide structured, deterministic outputs.</a:t>
            </a:r>
          </a:p>
          <a:p/>
          <a:p>
            <a:r>
              <a:t>TECHNICAL EXPLANATION:</a:t>
            </a:r>
          </a:p>
          <a:p>
            <a:r>
              <a:t>/detect outputs normalized bounding box coordinates, confidence scores, and object counts. /ask returns the natural language answer alongside intent metadata, confidence rating, and underlying detection counts.</a:t>
            </a:r>
          </a:p>
          <a:p/>
          <a:p>
            <a:r>
              <a:t>DEFENSE Q&amp;A:</a:t>
            </a:r>
          </a:p>
          <a:p>
            <a:r>
              <a:t>Q: How are invalid requests or bad image uploads handled?</a:t>
            </a:r>
          </a:p>
          <a:p>
            <a:r>
              <a:t>A: FastAPI and Pydantic v2 validate incoming multipart form fields. Unparseable image buffers return HTTP 400 Bad Request, while invalid schemas return HTTP 422 Unprocessable Entity.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The application is live on AWS EC2 in ap-south-1 Mumbai at http://13.233.255.22. During initial deployment, we resolved a real-world infrastructure incident.</a:t>
            </a:r>
          </a:p>
          <a:p/>
          <a:p>
            <a:r>
              <a:t>TECHNICAL EXPLANATION:</a:t>
            </a:r>
          </a:p>
          <a:p>
            <a:r>
              <a:t>Extracting heavy PyTorch CUDA container layers exhausted our initial 20 GiB root disk. We expanded the EBS volume to 40 GiB and executed growpart /dev/nvme0n1 1 and resize2fs live on Ubuntu 24.04, allowing container startup to finish cleanly.</a:t>
            </a:r>
          </a:p>
          <a:p/>
          <a:p>
            <a:r>
              <a:t>DEFENSE Q&amp;A:</a:t>
            </a:r>
          </a:p>
          <a:p>
            <a:r>
              <a:t>Q: How did you fix the Docker disk space issue?</a:t>
            </a:r>
          </a:p>
          <a:p>
            <a:r>
              <a:t>A: We resized the EBS volume to 40 GiB via AWS, then performed online partition expansion using growpart and filesystem resizing using resize2fs without destroying the running EC2 instance.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In conclusion, we have built, benchmarked, safeguarded, containerized, and deployed an end-to-end computer vision reasoning pipeline.</a:t>
            </a:r>
          </a:p>
          <a:p/>
          <a:p>
            <a:r>
              <a:t>TECHNICAL SUMMARY:</a:t>
            </a:r>
          </a:p>
          <a:p>
            <a:r>
              <a:t>While freight container localization and CPU inference latency represent clear limitations, our deterministic post-processing rules, unit test coverage, and cloud infrastructure provide a solid, deployable baseline.</a:t>
            </a:r>
          </a:p>
          <a:p/>
          <a:p>
            <a:r>
              <a:t>DEFENSE Q&amp;A:</a:t>
            </a:r>
          </a:p>
          <a:p>
            <a:r>
              <a:t>Q: What is your primary takeaway from this project?</a:t>
            </a:r>
          </a:p>
          <a:p>
            <a:r>
              <a:t>A: Computer vision engineering requires a holistic workflow—from rigorous held-out dataset evaluation and failure mode diagnosis to deterministic guardrails and automated cloud deployment.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2200" b="1">
                <a:solidFill>
                  <a:srgbClr val="F8FAFC"/>
                </a:solidFill>
                <a:latin typeface="Arial"/>
              </a:defRPr>
            </a:pPr>
            <a:r>
              <a:t>LOGISTICS OBJECT DETECTION &amp; REASONING API</a:t>
            </a:r>
          </a:p>
          <a:p>
            <a:pPr>
              <a:spcBef>
                <a:spcPts val="400"/>
              </a:spcBef>
              <a:defRPr sz="1300">
                <a:solidFill>
                  <a:srgbClr val="38BDF8"/>
                </a:solidFill>
                <a:latin typeface="Arial"/>
              </a:defRPr>
            </a:pPr>
            <a:r>
              <a:t>End-to-End Computer Vision System from RT-DETR Fine-Tuning to AWS Deployment</a:t>
            </a:r>
          </a:p>
        </p:txBody>
      </p:sp>
      <p:sp>
        <p:nvSpPr>
          <p:cNvPr id="3" name="TextBox 2"/>
          <p:cNvSpPr txBox="1"/>
          <p:nvPr/>
        </p:nvSpPr>
        <p:spPr>
          <a:xfrm>
            <a:off x="731520" y="6217920"/>
            <a:ext cx="10728655" cy="365760"/>
          </a:xfrm>
          <a:prstGeom prst="rect">
            <a:avLst/>
          </a:prstGeom>
          <a:noFill/>
        </p:spPr>
        <p:txBody>
          <a:bodyPr wrap="none">
            <a:spAutoFit/>
          </a:bodyPr>
          <a:lstStyle/>
          <a:p>
            <a:pPr>
              <a:defRPr sz="900">
                <a:solidFill>
                  <a:srgbClr val="94A3B8"/>
                </a:solidFill>
                <a:latin typeface="Arial"/>
              </a:defRPr>
            </a:pPr>
            <a:r>
              <a:t>RAP Pre-Hackathon Submission | Slide 1 of 14</a:t>
            </a:r>
          </a:p>
        </p:txBody>
      </p:sp>
      <p:sp>
        <p:nvSpPr>
          <p:cNvPr id="4" name="Rectangle 3"/>
          <p:cNvSpPr/>
          <p:nvPr/>
        </p:nvSpPr>
        <p:spPr>
          <a:xfrm>
            <a:off x="731520" y="1645920"/>
            <a:ext cx="10728655" cy="429768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457200" tIns="548640"/>
          <a:lstStyle/>
          <a:p>
            <a:pPr algn="ctr">
              <a:defRPr sz="2800" b="1">
                <a:solidFill>
                  <a:srgbClr val="38BDF8"/>
                </a:solidFill>
              </a:defRPr>
            </a:pPr>
            <a:r>
              <a:t>LOGISTICS OBJECT DETECTION &amp; REASONING API</a:t>
            </a:r>
          </a:p>
          <a:p>
            <a:pPr>
              <a:spcBef>
                <a:spcPts val="1200"/>
              </a:spcBef>
              <a:defRPr sz="1600">
                <a:solidFill>
                  <a:srgbClr val="F8FAFC"/>
                </a:solidFill>
              </a:defRPr>
            </a:pPr>
            <a:r>
              <a:t>An End-to-End Computer Vision System from RT-DETR Fine-Tuning to AWS EC2 Cloud Deployment</a:t>
            </a:r>
          </a:p>
          <a:p>
            <a:br/>
            <a:pPr>
              <a:defRPr sz="1400" b="1">
                <a:solidFill>
                  <a:srgbClr val="34D399"/>
                </a:solidFill>
              </a:defRPr>
            </a:pPr>
            <a:r>
              <a:t>Core System Components &amp; Deliverables:</a:t>
            </a:r>
          </a:p>
          <a:p>
            <a:pPr>
              <a:spcBef>
                <a:spcPts val="400"/>
              </a:spcBef>
              <a:defRPr sz="1200">
                <a:solidFill>
                  <a:srgbClr val="94A3B8"/>
                </a:solidFill>
              </a:defRPr>
            </a:pPr>
            <a:r>
              <a:t>• RT-DETR-L Vision Transformer fine-tuned on 5 logistics domain classes.</a:t>
            </a:r>
          </a:p>
          <a:p>
            <a:pPr>
              <a:spcBef>
                <a:spcPts val="400"/>
              </a:spcBef>
              <a:defRPr sz="1200">
                <a:solidFill>
                  <a:srgbClr val="94A3B8"/>
                </a:solidFill>
              </a:defRPr>
            </a:pPr>
            <a:r>
              <a:t>• 4-Stage Post-Processing Pipeline (Class NMS, Containment IoS, Edge Filter, Cross-Class IoU).</a:t>
            </a:r>
          </a:p>
          <a:p>
            <a:pPr>
              <a:spcBef>
                <a:spcPts val="400"/>
              </a:spcBef>
              <a:defRPr sz="1200">
                <a:solidFill>
                  <a:srgbClr val="94A3B8"/>
                </a:solidFill>
              </a:defRPr>
            </a:pPr>
            <a:r>
              <a:t>• Deterministic Natural Language Reasoning API with 6 intents &amp; strict refusal guardrails.</a:t>
            </a:r>
          </a:p>
          <a:p>
            <a:pPr>
              <a:spcBef>
                <a:spcPts val="400"/>
              </a:spcBef>
              <a:defRPr sz="1200">
                <a:solidFill>
                  <a:srgbClr val="94A3B8"/>
                </a:solidFill>
              </a:defRPr>
            </a:pPr>
            <a:r>
              <a:t>• Decoupled Microservice Architecture (FastAPI + Docker + Nginx Reverse Proxy).</a:t>
            </a:r>
          </a:p>
          <a:p>
            <a:pPr>
              <a:spcBef>
                <a:spcPts val="400"/>
              </a:spcBef>
              <a:defRPr sz="1200">
                <a:solidFill>
                  <a:srgbClr val="94A3B8"/>
                </a:solidFill>
              </a:defRPr>
            </a:pPr>
            <a:r>
              <a:t>• Infrastructure as Code (Terraform) live on AWS EC2 ap-south-1 Mumbai (http://13.233.255.22).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2600" b="1">
                <a:solidFill>
                  <a:srgbClr val="F8FAFC"/>
                </a:solidFill>
                <a:latin typeface="Arial"/>
              </a:defRPr>
            </a:pPr>
            <a:r>
              <a:t>PROBLEM &amp; OBJECTIVE</a:t>
            </a:r>
          </a:p>
          <a:p>
            <a:pPr>
              <a:spcBef>
                <a:spcPts val="400"/>
              </a:spcBef>
              <a:defRPr sz="1300">
                <a:solidFill>
                  <a:srgbClr val="38BDF8"/>
                </a:solidFill>
                <a:latin typeface="Arial"/>
              </a:defRPr>
            </a:pPr>
            <a:r>
              <a:t>Real-World Logistics Vision &amp; Bounded Natural Language Reasoning</a:t>
            </a:r>
          </a:p>
        </p:txBody>
      </p:sp>
      <p:sp>
        <p:nvSpPr>
          <p:cNvPr id="3" name="TextBox 2"/>
          <p:cNvSpPr txBox="1"/>
          <p:nvPr/>
        </p:nvSpPr>
        <p:spPr>
          <a:xfrm>
            <a:off x="731520" y="6217920"/>
            <a:ext cx="10728655" cy="365760"/>
          </a:xfrm>
          <a:prstGeom prst="rect">
            <a:avLst/>
          </a:prstGeom>
          <a:noFill/>
        </p:spPr>
        <p:txBody>
          <a:bodyPr wrap="none">
            <a:spAutoFit/>
          </a:bodyPr>
          <a:lstStyle/>
          <a:p>
            <a:pPr>
              <a:defRPr sz="900">
                <a:solidFill>
                  <a:srgbClr val="94A3B8"/>
                </a:solidFill>
                <a:latin typeface="Arial"/>
              </a:defRPr>
            </a:pPr>
            <a:r>
              <a:t>RAP Pre-Hackathon Submission | Slide 2 of 14</a:t>
            </a:r>
          </a:p>
        </p:txBody>
      </p:sp>
      <p:sp>
        <p:nvSpPr>
          <p:cNvPr id="4" name="Rectangle 3"/>
          <p:cNvSpPr/>
          <p:nvPr/>
        </p:nvSpPr>
        <p:spPr>
          <a:xfrm>
            <a:off x="731520" y="1554480"/>
            <a:ext cx="5212080" cy="438912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bIns="274320"/>
          <a:lstStyle/>
          <a:p>
            <a:pPr algn="ctr">
              <a:defRPr sz="1600" b="1">
                <a:solidFill>
                  <a:srgbClr val="38BDF8"/>
                </a:solidFill>
              </a:defRPr>
            </a:pPr>
            <a:r>
              <a:t>Real-World Logistics Problem</a:t>
            </a:r>
          </a:p>
          <a:p>
            <a:pPr>
              <a:spcBef>
                <a:spcPts val="800"/>
              </a:spcBef>
              <a:defRPr sz="1100">
                <a:solidFill>
                  <a:srgbClr val="F8FAFC"/>
                </a:solidFill>
              </a:defRPr>
            </a:pPr>
            <a:r>
              <a:t>• Dense, cluttered warehouse environments with overlapping objects.</a:t>
            </a:r>
          </a:p>
          <a:p>
            <a:pPr>
              <a:spcBef>
                <a:spcPts val="800"/>
              </a:spcBef>
              <a:defRPr sz="1100">
                <a:solidFill>
                  <a:srgbClr val="F8FAFC"/>
                </a:solidFill>
              </a:defRPr>
            </a:pPr>
            <a:r>
              <a:t>• Domain requirement includes non-COCO class (wood pallet).</a:t>
            </a:r>
          </a:p>
          <a:p>
            <a:pPr>
              <a:spcBef>
                <a:spcPts val="800"/>
              </a:spcBef>
              <a:defRPr sz="1100">
                <a:solidFill>
                  <a:srgbClr val="F8FAFC"/>
                </a:solidFill>
              </a:defRPr>
            </a:pPr>
            <a:r>
              <a:t>• Need exact bounding boxes + confidence scores for inventory tracking.</a:t>
            </a:r>
          </a:p>
          <a:p>
            <a:pPr>
              <a:spcBef>
                <a:spcPts val="800"/>
              </a:spcBef>
              <a:defRPr sz="1100">
                <a:solidFill>
                  <a:srgbClr val="F8FAFC"/>
                </a:solidFill>
              </a:defRPr>
            </a:pPr>
            <a:r>
              <a:t>• Requirement for natural language Q&amp;A without accepting LLM hallucinations.</a:t>
            </a:r>
          </a:p>
          <a:p>
            <a:pPr>
              <a:spcBef>
                <a:spcPts val="800"/>
              </a:spcBef>
              <a:defRPr sz="1100">
                <a:solidFill>
                  <a:srgbClr val="F8FAFC"/>
                </a:solidFill>
              </a:defRPr>
            </a:pPr>
            <a:r>
              <a:t>• Must provide a reliable, self-contained, production-ready REST API.</a:t>
            </a:r>
          </a:p>
        </p:txBody>
      </p:sp>
      <p:sp>
        <p:nvSpPr>
          <p:cNvPr id="5" name="Rectangle 4"/>
          <p:cNvSpPr/>
          <p:nvPr/>
        </p:nvSpPr>
        <p:spPr>
          <a:xfrm>
            <a:off x="6217920" y="1554480"/>
            <a:ext cx="5242255" cy="438912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bIns="274320"/>
          <a:lstStyle/>
          <a:p>
            <a:pPr algn="ctr">
              <a:defRPr sz="1600" b="1">
                <a:solidFill>
                  <a:srgbClr val="34D399"/>
                </a:solidFill>
              </a:defRPr>
            </a:pPr>
            <a:r>
              <a:t>System Objective Flow</a:t>
            </a:r>
          </a:p>
          <a:p>
            <a:pPr>
              <a:spcBef>
                <a:spcPts val="800"/>
              </a:spcBef>
              <a:defRPr sz="1100">
                <a:solidFill>
                  <a:srgbClr val="F8FAFC"/>
                </a:solidFill>
              </a:defRPr>
            </a:pPr>
            <a:r>
              <a:t>1. Input Image: Upload warehouse scene (640x640 resolution).</a:t>
            </a:r>
          </a:p>
          <a:p>
            <a:pPr>
              <a:spcBef>
                <a:spcPts val="800"/>
              </a:spcBef>
              <a:defRPr sz="1100">
                <a:solidFill>
                  <a:srgbClr val="F8FAFC"/>
                </a:solidFill>
              </a:defRPr>
            </a:pPr>
            <a:r>
              <a:t>2. Object Detection: RT-DETR-L extracts objects &amp; bounding boxes.</a:t>
            </a:r>
          </a:p>
          <a:p>
            <a:pPr>
              <a:spcBef>
                <a:spcPts val="800"/>
              </a:spcBef>
              <a:defRPr sz="1100">
                <a:solidFill>
                  <a:srgbClr val="F8FAFC"/>
                </a:solidFill>
              </a:defRPr>
            </a:pPr>
            <a:r>
              <a:t>3. Structured Output: 4-stage rule engine cleans raw predictions.</a:t>
            </a:r>
          </a:p>
          <a:p>
            <a:pPr>
              <a:spcBef>
                <a:spcPts val="800"/>
              </a:spcBef>
              <a:defRPr sz="1100">
                <a:solidFill>
                  <a:srgbClr val="F8FAFC"/>
                </a:solidFill>
              </a:defRPr>
            </a:pPr>
            <a:r>
              <a:t>4. Natural Language Question: User queries image context.</a:t>
            </a:r>
          </a:p>
          <a:p>
            <a:pPr>
              <a:spcBef>
                <a:spcPts val="800"/>
              </a:spcBef>
              <a:defRPr sz="1100">
                <a:solidFill>
                  <a:srgbClr val="F8FAFC"/>
                </a:solidFill>
              </a:defRPr>
            </a:pPr>
            <a:r>
              <a:t>5. Deterministic Reasoning: Intent router answers or cleanly refuses.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2600" b="1">
                <a:solidFill>
                  <a:srgbClr val="F8FAFC"/>
                </a:solidFill>
                <a:latin typeface="Arial"/>
              </a:defRPr>
            </a:pPr>
            <a:r>
              <a:t>SOLUTION OVERVIEW</a:t>
            </a:r>
          </a:p>
          <a:p>
            <a:pPr>
              <a:spcBef>
                <a:spcPts val="400"/>
              </a:spcBef>
              <a:defRPr sz="1300">
                <a:solidFill>
                  <a:srgbClr val="38BDF8"/>
                </a:solidFill>
                <a:latin typeface="Arial"/>
              </a:defRPr>
            </a:pPr>
            <a:r>
              <a:t>Dual-Endpoint Computer Vision &amp; Reasoning Microservice Architecture</a:t>
            </a:r>
          </a:p>
        </p:txBody>
      </p:sp>
      <p:sp>
        <p:nvSpPr>
          <p:cNvPr id="3" name="TextBox 2"/>
          <p:cNvSpPr txBox="1"/>
          <p:nvPr/>
        </p:nvSpPr>
        <p:spPr>
          <a:xfrm>
            <a:off x="731520" y="6217920"/>
            <a:ext cx="10728655" cy="365760"/>
          </a:xfrm>
          <a:prstGeom prst="rect">
            <a:avLst/>
          </a:prstGeom>
          <a:noFill/>
        </p:spPr>
        <p:txBody>
          <a:bodyPr wrap="none">
            <a:spAutoFit/>
          </a:bodyPr>
          <a:lstStyle/>
          <a:p>
            <a:pPr>
              <a:defRPr sz="900">
                <a:solidFill>
                  <a:srgbClr val="94A3B8"/>
                </a:solidFill>
                <a:latin typeface="Arial"/>
              </a:defRPr>
            </a:pPr>
            <a:r>
              <a:t>RAP Pre-Hackathon Submission | Slide 3 of 14</a:t>
            </a:r>
          </a:p>
        </p:txBody>
      </p:sp>
      <p:pic>
        <p:nvPicPr>
          <p:cNvPr id="4" name="Picture 3" descr="chart_system_arch.png"/>
          <p:cNvPicPr>
            <a:picLocks noChangeAspect="1"/>
          </p:cNvPicPr>
          <p:nvPr/>
        </p:nvPicPr>
        <p:blipFill>
          <a:blip r:embed="rId2"/>
          <a:stretch>
            <a:fillRect/>
          </a:stretch>
        </p:blipFill>
        <p:spPr>
          <a:xfrm>
            <a:off x="731520" y="1554480"/>
            <a:ext cx="5669280" cy="4389120"/>
          </a:xfrm>
          <a:prstGeom prst="rect">
            <a:avLst/>
          </a:prstGeom>
        </p:spPr>
      </p:pic>
      <p:sp>
        <p:nvSpPr>
          <p:cNvPr id="5" name="Rectangle 4"/>
          <p:cNvSpPr/>
          <p:nvPr/>
        </p:nvSpPr>
        <p:spPr>
          <a:xfrm>
            <a:off x="6583680" y="1554480"/>
            <a:ext cx="4876495" cy="438912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bIns="274320"/>
          <a:lstStyle/>
          <a:p>
            <a:pPr algn="ctr">
              <a:defRPr sz="1600" b="1">
                <a:solidFill>
                  <a:srgbClr val="38BDF8"/>
                </a:solidFill>
              </a:defRPr>
            </a:pPr>
            <a:r>
              <a:t>Key System Insights</a:t>
            </a:r>
          </a:p>
          <a:p>
            <a:pPr>
              <a:spcBef>
                <a:spcPts val="800"/>
              </a:spcBef>
              <a:defRPr sz="1100">
                <a:solidFill>
                  <a:srgbClr val="F8FAFC"/>
                </a:solidFill>
              </a:defRPr>
            </a:pPr>
            <a:r>
              <a:t>• Decoupled Microservice: FastAPI framework with async Uvicorn engine.</a:t>
            </a:r>
          </a:p>
          <a:p>
            <a:pPr>
              <a:spcBef>
                <a:spcPts val="800"/>
              </a:spcBef>
              <a:defRPr sz="1100">
                <a:solidFill>
                  <a:srgbClr val="F8FAFC"/>
                </a:solidFill>
              </a:defRPr>
            </a:pPr>
            <a:r>
              <a:t>• Dual Primary Endpoints: POST /detect for raw bounding boxes; POST /ask for Q&amp;A.</a:t>
            </a:r>
          </a:p>
          <a:p>
            <a:pPr>
              <a:spcBef>
                <a:spcPts val="800"/>
              </a:spcBef>
              <a:defRPr sz="1100">
                <a:solidFill>
                  <a:srgbClr val="F8FAFC"/>
                </a:solidFill>
              </a:defRPr>
            </a:pPr>
            <a:r>
              <a:t>• Operation Support: GET /health for container liveness; GET /classes for schema discovery.</a:t>
            </a:r>
          </a:p>
          <a:p>
            <a:pPr>
              <a:spcBef>
                <a:spcPts val="800"/>
              </a:spcBef>
              <a:defRPr sz="1100">
                <a:solidFill>
                  <a:srgbClr val="F8FAFC"/>
                </a:solidFill>
              </a:defRPr>
            </a:pPr>
            <a:r>
              <a:t>• Nginx Reverse Proxy: Exposes Port 80 publicly while keeping Port 7860 bound locally.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2600" b="1">
                <a:solidFill>
                  <a:srgbClr val="F8FAFC"/>
                </a:solidFill>
                <a:latin typeface="Arial"/>
              </a:defRPr>
            </a:pPr>
            <a:r>
              <a:t>DATASET &amp; CLASS DESIGN</a:t>
            </a:r>
          </a:p>
          <a:p>
            <a:pPr>
              <a:spcBef>
                <a:spcPts val="400"/>
              </a:spcBef>
              <a:defRPr sz="1300">
                <a:solidFill>
                  <a:srgbClr val="38BDF8"/>
                </a:solidFill>
                <a:latin typeface="Arial"/>
              </a:defRPr>
            </a:pPr>
            <a:r>
              <a:t>2,500 Images across 5 Core Logistics Domain Classes</a:t>
            </a:r>
          </a:p>
        </p:txBody>
      </p:sp>
      <p:sp>
        <p:nvSpPr>
          <p:cNvPr id="3" name="TextBox 2"/>
          <p:cNvSpPr txBox="1"/>
          <p:nvPr/>
        </p:nvSpPr>
        <p:spPr>
          <a:xfrm>
            <a:off x="731520" y="6217920"/>
            <a:ext cx="10728655" cy="365760"/>
          </a:xfrm>
          <a:prstGeom prst="rect">
            <a:avLst/>
          </a:prstGeom>
          <a:noFill/>
        </p:spPr>
        <p:txBody>
          <a:bodyPr wrap="none">
            <a:spAutoFit/>
          </a:bodyPr>
          <a:lstStyle/>
          <a:p>
            <a:pPr>
              <a:defRPr sz="900">
                <a:solidFill>
                  <a:srgbClr val="94A3B8"/>
                </a:solidFill>
                <a:latin typeface="Arial"/>
              </a:defRPr>
            </a:pPr>
            <a:r>
              <a:t>RAP Pre-Hackathon Submission | Slide 4 of 14</a:t>
            </a:r>
          </a:p>
        </p:txBody>
      </p:sp>
      <p:pic>
        <p:nvPicPr>
          <p:cNvPr id="4" name="Picture 3" descr="chart_dataset_dist.png"/>
          <p:cNvPicPr>
            <a:picLocks noChangeAspect="1"/>
          </p:cNvPicPr>
          <p:nvPr/>
        </p:nvPicPr>
        <p:blipFill>
          <a:blip r:embed="rId2"/>
          <a:stretch>
            <a:fillRect/>
          </a:stretch>
        </p:blipFill>
        <p:spPr>
          <a:xfrm>
            <a:off x="731520" y="1554480"/>
            <a:ext cx="5669280" cy="4389120"/>
          </a:xfrm>
          <a:prstGeom prst="rect">
            <a:avLst/>
          </a:prstGeom>
        </p:spPr>
      </p:pic>
      <p:sp>
        <p:nvSpPr>
          <p:cNvPr id="5" name="Rectangle 4"/>
          <p:cNvSpPr/>
          <p:nvPr/>
        </p:nvSpPr>
        <p:spPr>
          <a:xfrm>
            <a:off x="6583680" y="1554480"/>
            <a:ext cx="4876495" cy="438912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bIns="274320"/>
          <a:lstStyle/>
          <a:p>
            <a:pPr algn="ctr">
              <a:defRPr sz="1600" b="1">
                <a:solidFill>
                  <a:srgbClr val="34D399"/>
                </a:solidFill>
              </a:defRPr>
            </a:pPr>
            <a:r>
              <a:t>Key Breakdown</a:t>
            </a:r>
          </a:p>
          <a:p>
            <a:pPr>
              <a:spcBef>
                <a:spcPts val="800"/>
              </a:spcBef>
              <a:defRPr sz="1100">
                <a:solidFill>
                  <a:srgbClr val="F8FAFC"/>
                </a:solidFill>
              </a:defRPr>
            </a:pPr>
            <a:r>
              <a:t>• 5 Logistics Classes: cardboard box, forklift, freight container, wood pallet, truck.</a:t>
            </a:r>
          </a:p>
          <a:p>
            <a:pPr>
              <a:spcBef>
                <a:spcPts val="800"/>
              </a:spcBef>
              <a:defRPr sz="1100">
                <a:solidFill>
                  <a:srgbClr val="F8FAFC"/>
                </a:solidFill>
              </a:defRPr>
            </a:pPr>
            <a:r>
              <a:t>• 2,500 Total Images: Class-balanced splits across train, validation, and test.</a:t>
            </a:r>
          </a:p>
          <a:p>
            <a:pPr>
              <a:spcBef>
                <a:spcPts val="800"/>
              </a:spcBef>
              <a:defRPr sz="1100">
                <a:solidFill>
                  <a:srgbClr val="F8FAFC"/>
                </a:solidFill>
              </a:defRPr>
            </a:pPr>
            <a:r>
              <a:t>• Train Set: 1,500 images (300 target images per class filter).</a:t>
            </a:r>
          </a:p>
          <a:p>
            <a:pPr>
              <a:spcBef>
                <a:spcPts val="800"/>
              </a:spcBef>
              <a:defRPr sz="1100">
                <a:solidFill>
                  <a:srgbClr val="F8FAFC"/>
                </a:solidFill>
              </a:defRPr>
            </a:pPr>
            <a:r>
              <a:t>• Validation Set: 500 images (100 target images per class filter).</a:t>
            </a:r>
          </a:p>
          <a:p>
            <a:pPr>
              <a:spcBef>
                <a:spcPts val="800"/>
              </a:spcBef>
              <a:defRPr sz="1100">
                <a:solidFill>
                  <a:srgbClr val="F8FAFC"/>
                </a:solidFill>
              </a:defRPr>
            </a:pPr>
            <a:r>
              <a:t>• Held-Out Test Set: 500 images (100 target images per class filter).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2600" b="1">
                <a:solidFill>
                  <a:srgbClr val="F8FAFC"/>
                </a:solidFill>
                <a:latin typeface="Arial"/>
              </a:defRPr>
            </a:pPr>
            <a:r>
              <a:t>MODEL ARCHITECTURE: RT-DETR-L</a:t>
            </a:r>
          </a:p>
          <a:p>
            <a:pPr>
              <a:spcBef>
                <a:spcPts val="400"/>
              </a:spcBef>
              <a:defRPr sz="1300">
                <a:solidFill>
                  <a:srgbClr val="38BDF8"/>
                </a:solidFill>
                <a:latin typeface="Arial"/>
              </a:defRPr>
            </a:pPr>
            <a:r>
              <a:t>Real-Time DEtection TRansformer for High-Efficiency Bounding Box Regression</a:t>
            </a:r>
          </a:p>
        </p:txBody>
      </p:sp>
      <p:sp>
        <p:nvSpPr>
          <p:cNvPr id="3" name="TextBox 2"/>
          <p:cNvSpPr txBox="1"/>
          <p:nvPr/>
        </p:nvSpPr>
        <p:spPr>
          <a:xfrm>
            <a:off x="731520" y="6217920"/>
            <a:ext cx="10728655" cy="365760"/>
          </a:xfrm>
          <a:prstGeom prst="rect">
            <a:avLst/>
          </a:prstGeom>
          <a:noFill/>
        </p:spPr>
        <p:txBody>
          <a:bodyPr wrap="none">
            <a:spAutoFit/>
          </a:bodyPr>
          <a:lstStyle/>
          <a:p>
            <a:pPr>
              <a:defRPr sz="900">
                <a:solidFill>
                  <a:srgbClr val="94A3B8"/>
                </a:solidFill>
                <a:latin typeface="Arial"/>
              </a:defRPr>
            </a:pPr>
            <a:r>
              <a:t>RAP Pre-Hackathon Submission | Slide 5 of 14</a:t>
            </a:r>
          </a:p>
        </p:txBody>
      </p:sp>
      <p:sp>
        <p:nvSpPr>
          <p:cNvPr id="4" name="Rectangle 3"/>
          <p:cNvSpPr/>
          <p:nvPr/>
        </p:nvSpPr>
        <p:spPr>
          <a:xfrm>
            <a:off x="731520" y="1554480"/>
            <a:ext cx="5212080" cy="438912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bIns="274320"/>
          <a:lstStyle/>
          <a:p>
            <a:pPr algn="ctr">
              <a:defRPr sz="1600" b="1">
                <a:solidFill>
                  <a:srgbClr val="38BDF8"/>
                </a:solidFill>
              </a:defRPr>
            </a:pPr>
            <a:r>
              <a:t>Why RT-DETR-L?</a:t>
            </a:r>
          </a:p>
          <a:p>
            <a:pPr>
              <a:spcBef>
                <a:spcPts val="800"/>
              </a:spcBef>
              <a:defRPr sz="1100">
                <a:solidFill>
                  <a:srgbClr val="F8FAFC"/>
                </a:solidFill>
              </a:defRPr>
            </a:pPr>
            <a:r>
              <a:t>• Transformer-Based Detector: End-to-end object query matching.</a:t>
            </a:r>
          </a:p>
          <a:p>
            <a:pPr>
              <a:spcBef>
                <a:spcPts val="800"/>
              </a:spcBef>
              <a:defRPr sz="1100">
                <a:solidFill>
                  <a:srgbClr val="F8FAFC"/>
                </a:solidFill>
              </a:defRPr>
            </a:pPr>
            <a:r>
              <a:t>• HGNet-v2 Backbone: Multi-scale feature extraction (B0-B5 hierarchy).</a:t>
            </a:r>
          </a:p>
          <a:p>
            <a:pPr>
              <a:spcBef>
                <a:spcPts val="800"/>
              </a:spcBef>
              <a:defRPr sz="1100">
                <a:solidFill>
                  <a:srgbClr val="F8FAFC"/>
                </a:solidFill>
              </a:defRPr>
            </a:pPr>
            <a:r>
              <a:t>• Hybrid Encoder: Intra-scale interaction &amp; cross-scale feature fusion.</a:t>
            </a:r>
          </a:p>
          <a:p>
            <a:pPr>
              <a:spcBef>
                <a:spcPts val="800"/>
              </a:spcBef>
              <a:defRPr sz="1100">
                <a:solidFill>
                  <a:srgbClr val="F8FAFC"/>
                </a:solidFill>
              </a:defRPr>
            </a:pPr>
            <a:r>
              <a:t>• NMS-Free Decoder: Eliminates traditional anchor hyperparameter tuning.</a:t>
            </a:r>
          </a:p>
          <a:p>
            <a:pPr>
              <a:spcBef>
                <a:spcPts val="800"/>
              </a:spcBef>
              <a:defRPr sz="1100">
                <a:solidFill>
                  <a:srgbClr val="F8FAFC"/>
                </a:solidFill>
              </a:defRPr>
            </a:pPr>
            <a:r>
              <a:t>• Ultralytics Integration: COCO-pretrained weights (rtdetr-l.pt).</a:t>
            </a:r>
          </a:p>
        </p:txBody>
      </p:sp>
      <p:sp>
        <p:nvSpPr>
          <p:cNvPr id="5" name="Rectangle 4"/>
          <p:cNvSpPr/>
          <p:nvPr/>
        </p:nvSpPr>
        <p:spPr>
          <a:xfrm>
            <a:off x="6217920" y="1554480"/>
            <a:ext cx="5242255" cy="438912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bIns="274320"/>
          <a:lstStyle/>
          <a:p>
            <a:pPr algn="ctr">
              <a:defRPr sz="1600" b="1">
                <a:solidFill>
                  <a:srgbClr val="34D399"/>
                </a:solidFill>
              </a:defRPr>
            </a:pPr>
            <a:r>
              <a:t>Architecture Benefits</a:t>
            </a:r>
          </a:p>
          <a:p>
            <a:pPr>
              <a:spcBef>
                <a:spcPts val="800"/>
              </a:spcBef>
              <a:defRPr sz="1100">
                <a:solidFill>
                  <a:srgbClr val="F8FAFC"/>
                </a:solidFill>
              </a:defRPr>
            </a:pPr>
            <a:r>
              <a:t>1. Global Context Awareness: Self-attention handles large-scale objects.</a:t>
            </a:r>
          </a:p>
          <a:p>
            <a:pPr>
              <a:spcBef>
                <a:spcPts val="800"/>
              </a:spcBef>
              <a:defRPr sz="1100">
                <a:solidFill>
                  <a:srgbClr val="F8FAFC"/>
                </a:solidFill>
              </a:defRPr>
            </a:pPr>
            <a:r>
              <a:t>2. High Efficiency: Designed specifically for real-time vision workloads.</a:t>
            </a:r>
          </a:p>
          <a:p>
            <a:pPr>
              <a:spcBef>
                <a:spcPts val="800"/>
              </a:spcBef>
              <a:defRPr sz="1100">
                <a:solidFill>
                  <a:srgbClr val="F8FAFC"/>
                </a:solidFill>
              </a:defRPr>
            </a:pPr>
            <a:r>
              <a:t>3. Robust Transfer Learning: Pretrained COCO representations accelerate domain convergence.</a:t>
            </a:r>
          </a:p>
          <a:p>
            <a:pPr>
              <a:spcBef>
                <a:spcPts val="800"/>
              </a:spcBef>
              <a:defRPr sz="1100">
                <a:solidFill>
                  <a:srgbClr val="F8FAFC"/>
                </a:solidFill>
              </a:defRPr>
            </a:pPr>
            <a:r>
              <a:t>4. Fine-Tuning Stability: Bipartite Hungarian matching stabilizes bounding box regression.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2600" b="1">
                <a:solidFill>
                  <a:srgbClr val="F8FAFC"/>
                </a:solidFill>
                <a:latin typeface="Arial"/>
              </a:defRPr>
            </a:pPr>
            <a:r>
              <a:t>EXPERIMENT CONFIGURATION</a:t>
            </a:r>
          </a:p>
          <a:p>
            <a:pPr>
              <a:spcBef>
                <a:spcPts val="400"/>
              </a:spcBef>
              <a:defRPr sz="1300">
                <a:solidFill>
                  <a:srgbClr val="38BDF8"/>
                </a:solidFill>
                <a:latin typeface="Arial"/>
              </a:defRPr>
            </a:pPr>
            <a:r>
              <a:t>Hyperparameters, Hardware, and Checkpoint Selection</a:t>
            </a:r>
          </a:p>
        </p:txBody>
      </p:sp>
      <p:sp>
        <p:nvSpPr>
          <p:cNvPr id="3" name="TextBox 2"/>
          <p:cNvSpPr txBox="1"/>
          <p:nvPr/>
        </p:nvSpPr>
        <p:spPr>
          <a:xfrm>
            <a:off x="731520" y="6217920"/>
            <a:ext cx="10728655" cy="365760"/>
          </a:xfrm>
          <a:prstGeom prst="rect">
            <a:avLst/>
          </a:prstGeom>
          <a:noFill/>
        </p:spPr>
        <p:txBody>
          <a:bodyPr wrap="none">
            <a:spAutoFit/>
          </a:bodyPr>
          <a:lstStyle/>
          <a:p>
            <a:pPr>
              <a:defRPr sz="900">
                <a:solidFill>
                  <a:srgbClr val="94A3B8"/>
                </a:solidFill>
                <a:latin typeface="Arial"/>
              </a:defRPr>
            </a:pPr>
            <a:r>
              <a:t>RAP Pre-Hackathon Submission | Slide 6 of 14</a:t>
            </a:r>
          </a:p>
        </p:txBody>
      </p:sp>
      <p:sp>
        <p:nvSpPr>
          <p:cNvPr id="4" name="Rectangle 3"/>
          <p:cNvSpPr/>
          <p:nvPr/>
        </p:nvSpPr>
        <p:spPr>
          <a:xfrm>
            <a:off x="731520" y="1554480"/>
            <a:ext cx="2560320" cy="128016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a:lstStyle/>
          <a:p>
            <a:pPr algn="ctr">
              <a:defRPr sz="1000">
                <a:solidFill>
                  <a:srgbClr val="94A3B8"/>
                </a:solidFill>
              </a:defRPr>
            </a:pPr>
            <a:r>
              <a:t>Model</a:t>
            </a:r>
          </a:p>
          <a:p>
            <a:pPr>
              <a:spcBef>
                <a:spcPts val="400"/>
              </a:spcBef>
              <a:defRPr sz="1300" b="1">
                <a:solidFill>
                  <a:srgbClr val="38BDF8"/>
                </a:solidFill>
              </a:defRPr>
            </a:pPr>
            <a:r>
              <a:t>RT-DETR-L</a:t>
            </a:r>
          </a:p>
        </p:txBody>
      </p:sp>
      <p:sp>
        <p:nvSpPr>
          <p:cNvPr id="5" name="Rectangle 4"/>
          <p:cNvSpPr/>
          <p:nvPr/>
        </p:nvSpPr>
        <p:spPr>
          <a:xfrm>
            <a:off x="3429000" y="1554480"/>
            <a:ext cx="2560320" cy="128016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a:lstStyle/>
          <a:p>
            <a:pPr algn="ctr">
              <a:defRPr sz="1000">
                <a:solidFill>
                  <a:srgbClr val="94A3B8"/>
                </a:solidFill>
              </a:defRPr>
            </a:pPr>
            <a:r>
              <a:t>Resolution</a:t>
            </a:r>
          </a:p>
          <a:p>
            <a:pPr>
              <a:spcBef>
                <a:spcPts val="400"/>
              </a:spcBef>
              <a:defRPr sz="1300" b="1">
                <a:solidFill>
                  <a:srgbClr val="34D399"/>
                </a:solidFill>
              </a:defRPr>
            </a:pPr>
            <a:r>
              <a:t>640 × 640</a:t>
            </a:r>
          </a:p>
        </p:txBody>
      </p:sp>
      <p:sp>
        <p:nvSpPr>
          <p:cNvPr id="6" name="Rectangle 5"/>
          <p:cNvSpPr/>
          <p:nvPr/>
        </p:nvSpPr>
        <p:spPr>
          <a:xfrm>
            <a:off x="6126480" y="1554480"/>
            <a:ext cx="2560320" cy="128016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a:lstStyle/>
          <a:p>
            <a:pPr algn="ctr">
              <a:defRPr sz="1000">
                <a:solidFill>
                  <a:srgbClr val="94A3B8"/>
                </a:solidFill>
              </a:defRPr>
            </a:pPr>
            <a:r>
              <a:t>Batch Size</a:t>
            </a:r>
          </a:p>
          <a:p>
            <a:pPr>
              <a:spcBef>
                <a:spcPts val="400"/>
              </a:spcBef>
              <a:defRPr sz="1300" b="1">
                <a:solidFill>
                  <a:srgbClr val="38BDF8"/>
                </a:solidFill>
              </a:defRPr>
            </a:pPr>
            <a:r>
              <a:t>2</a:t>
            </a:r>
          </a:p>
        </p:txBody>
      </p:sp>
      <p:sp>
        <p:nvSpPr>
          <p:cNvPr id="7" name="Rectangle 6"/>
          <p:cNvSpPr/>
          <p:nvPr/>
        </p:nvSpPr>
        <p:spPr>
          <a:xfrm>
            <a:off x="8823960" y="1554480"/>
            <a:ext cx="2560320" cy="128016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a:lstStyle/>
          <a:p>
            <a:pPr algn="ctr">
              <a:defRPr sz="1000">
                <a:solidFill>
                  <a:srgbClr val="94A3B8"/>
                </a:solidFill>
              </a:defRPr>
            </a:pPr>
            <a:r>
              <a:t>Configured Epochs</a:t>
            </a:r>
          </a:p>
          <a:p>
            <a:pPr>
              <a:spcBef>
                <a:spcPts val="400"/>
              </a:spcBef>
              <a:defRPr sz="1300" b="1">
                <a:solidFill>
                  <a:srgbClr val="34D399"/>
                </a:solidFill>
              </a:defRPr>
            </a:pPr>
            <a:r>
              <a:t>50</a:t>
            </a:r>
          </a:p>
        </p:txBody>
      </p:sp>
      <p:sp>
        <p:nvSpPr>
          <p:cNvPr id="8" name="Rectangle 7"/>
          <p:cNvSpPr/>
          <p:nvPr/>
        </p:nvSpPr>
        <p:spPr>
          <a:xfrm>
            <a:off x="731520" y="3017520"/>
            <a:ext cx="2560320" cy="128016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a:lstStyle/>
          <a:p>
            <a:pPr algn="ctr">
              <a:defRPr sz="1000">
                <a:solidFill>
                  <a:srgbClr val="94A3B8"/>
                </a:solidFill>
              </a:defRPr>
            </a:pPr>
            <a:r>
              <a:t>Completed Epochs</a:t>
            </a:r>
          </a:p>
          <a:p>
            <a:pPr>
              <a:spcBef>
                <a:spcPts val="400"/>
              </a:spcBef>
              <a:defRPr sz="1300" b="1">
                <a:solidFill>
                  <a:srgbClr val="38BDF8"/>
                </a:solidFill>
              </a:defRPr>
            </a:pPr>
            <a:r>
              <a:t>10</a:t>
            </a:r>
          </a:p>
        </p:txBody>
      </p:sp>
      <p:sp>
        <p:nvSpPr>
          <p:cNvPr id="9" name="Rectangle 8"/>
          <p:cNvSpPr/>
          <p:nvPr/>
        </p:nvSpPr>
        <p:spPr>
          <a:xfrm>
            <a:off x="3429000" y="3017520"/>
            <a:ext cx="2560320" cy="128016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a:lstStyle/>
          <a:p>
            <a:pPr algn="ctr">
              <a:defRPr sz="1000">
                <a:solidFill>
                  <a:srgbClr val="94A3B8"/>
                </a:solidFill>
              </a:defRPr>
            </a:pPr>
            <a:r>
              <a:t>Deployed Checkpoint</a:t>
            </a:r>
          </a:p>
          <a:p>
            <a:pPr>
              <a:spcBef>
                <a:spcPts val="400"/>
              </a:spcBef>
              <a:defRPr sz="1300" b="1">
                <a:solidFill>
                  <a:srgbClr val="34D399"/>
                </a:solidFill>
              </a:defRPr>
            </a:pPr>
            <a:r>
              <a:t>epoch0.pt (Epoch 1)</a:t>
            </a:r>
          </a:p>
        </p:txBody>
      </p:sp>
      <p:sp>
        <p:nvSpPr>
          <p:cNvPr id="10" name="Rectangle 9"/>
          <p:cNvSpPr/>
          <p:nvPr/>
        </p:nvSpPr>
        <p:spPr>
          <a:xfrm>
            <a:off x="6126480" y="3017520"/>
            <a:ext cx="2560320" cy="128016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a:lstStyle/>
          <a:p>
            <a:pPr algn="ctr">
              <a:defRPr sz="1000">
                <a:solidFill>
                  <a:srgbClr val="94A3B8"/>
                </a:solidFill>
              </a:defRPr>
            </a:pPr>
            <a:r>
              <a:t>Best Fitness</a:t>
            </a:r>
          </a:p>
          <a:p>
            <a:pPr>
              <a:spcBef>
                <a:spcPts val="400"/>
              </a:spcBef>
              <a:defRPr sz="1300" b="1">
                <a:solidFill>
                  <a:srgbClr val="38BDF8"/>
                </a:solidFill>
              </a:defRPr>
            </a:pPr>
            <a:r>
              <a:t>0.40391 (mAP50-95)</a:t>
            </a:r>
          </a:p>
        </p:txBody>
      </p:sp>
      <p:sp>
        <p:nvSpPr>
          <p:cNvPr id="11" name="Rectangle 10"/>
          <p:cNvSpPr/>
          <p:nvPr/>
        </p:nvSpPr>
        <p:spPr>
          <a:xfrm>
            <a:off x="8823960" y="3017520"/>
            <a:ext cx="2560320" cy="128016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a:lstStyle/>
          <a:p>
            <a:pPr algn="ctr">
              <a:defRPr sz="1000">
                <a:solidFill>
                  <a:srgbClr val="94A3B8"/>
                </a:solidFill>
              </a:defRPr>
            </a:pPr>
            <a:r>
              <a:t>Initial LR</a:t>
            </a:r>
          </a:p>
          <a:p>
            <a:pPr>
              <a:spcBef>
                <a:spcPts val="400"/>
              </a:spcBef>
              <a:defRPr sz="1300" b="1">
                <a:solidFill>
                  <a:srgbClr val="34D399"/>
                </a:solidFill>
              </a:defRPr>
            </a:pPr>
            <a:r>
              <a:t>0.0001 (AdamW)</a:t>
            </a:r>
          </a:p>
        </p:txBody>
      </p:sp>
      <p:sp>
        <p:nvSpPr>
          <p:cNvPr id="12" name="Rectangle 11"/>
          <p:cNvSpPr/>
          <p:nvPr/>
        </p:nvSpPr>
        <p:spPr>
          <a:xfrm>
            <a:off x="731520" y="4480560"/>
            <a:ext cx="2560320" cy="128016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a:lstStyle/>
          <a:p>
            <a:pPr algn="ctr">
              <a:defRPr sz="1000">
                <a:solidFill>
                  <a:srgbClr val="94A3B8"/>
                </a:solidFill>
              </a:defRPr>
            </a:pPr>
            <a:r>
              <a:t>Weight Decay</a:t>
            </a:r>
          </a:p>
          <a:p>
            <a:pPr>
              <a:spcBef>
                <a:spcPts val="400"/>
              </a:spcBef>
              <a:defRPr sz="1300" b="1">
                <a:solidFill>
                  <a:srgbClr val="38BDF8"/>
                </a:solidFill>
              </a:defRPr>
            </a:pPr>
            <a:r>
              <a:t>0.0005</a:t>
            </a:r>
          </a:p>
        </p:txBody>
      </p:sp>
      <p:sp>
        <p:nvSpPr>
          <p:cNvPr id="13" name="Rectangle 12"/>
          <p:cNvSpPr/>
          <p:nvPr/>
        </p:nvSpPr>
        <p:spPr>
          <a:xfrm>
            <a:off x="3429000" y="4480560"/>
            <a:ext cx="2560320" cy="128016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a:lstStyle/>
          <a:p>
            <a:pPr algn="ctr">
              <a:defRPr sz="1000">
                <a:solidFill>
                  <a:srgbClr val="94A3B8"/>
                </a:solidFill>
              </a:defRPr>
            </a:pPr>
            <a:r>
              <a:t>Augmentations</a:t>
            </a:r>
          </a:p>
          <a:p>
            <a:pPr>
              <a:spcBef>
                <a:spcPts val="400"/>
              </a:spcBef>
              <a:defRPr sz="1300" b="1">
                <a:solidFill>
                  <a:srgbClr val="34D399"/>
                </a:solidFill>
              </a:defRPr>
            </a:pPr>
            <a:r>
              <a:t>Mosaic 1.0, HSV, Scale</a:t>
            </a:r>
          </a:p>
        </p:txBody>
      </p:sp>
      <p:sp>
        <p:nvSpPr>
          <p:cNvPr id="14" name="Rectangle 13"/>
          <p:cNvSpPr/>
          <p:nvPr/>
        </p:nvSpPr>
        <p:spPr>
          <a:xfrm>
            <a:off x="6126480" y="4480560"/>
            <a:ext cx="2560320" cy="128016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a:lstStyle/>
          <a:p>
            <a:pPr algn="ctr">
              <a:defRPr sz="1000">
                <a:solidFill>
                  <a:srgbClr val="94A3B8"/>
                </a:solidFill>
              </a:defRPr>
            </a:pPr>
            <a:r>
              <a:t>Hardware</a:t>
            </a:r>
          </a:p>
          <a:p>
            <a:pPr>
              <a:spcBef>
                <a:spcPts val="400"/>
              </a:spcBef>
              <a:defRPr sz="1300" b="1">
                <a:solidFill>
                  <a:srgbClr val="38BDF8"/>
                </a:solidFill>
              </a:defRPr>
            </a:pPr>
            <a:r>
              <a:t>NVIDIA RTX 3050 6GB</a:t>
            </a:r>
          </a:p>
        </p:txBody>
      </p:sp>
      <p:sp>
        <p:nvSpPr>
          <p:cNvPr id="15" name="Rectangle 14"/>
          <p:cNvSpPr/>
          <p:nvPr/>
        </p:nvSpPr>
        <p:spPr>
          <a:xfrm>
            <a:off x="8823960" y="4480560"/>
            <a:ext cx="2560320" cy="128016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a:lstStyle/>
          <a:p>
            <a:pPr algn="ctr">
              <a:defRPr sz="1000">
                <a:solidFill>
                  <a:srgbClr val="94A3B8"/>
                </a:solidFill>
              </a:defRPr>
            </a:pPr>
            <a:r>
              <a:t>Training Time</a:t>
            </a:r>
          </a:p>
          <a:p>
            <a:pPr>
              <a:spcBef>
                <a:spcPts val="400"/>
              </a:spcBef>
              <a:defRPr sz="1300" b="1">
                <a:solidFill>
                  <a:srgbClr val="34D399"/>
                </a:solidFill>
              </a:defRPr>
            </a:pPr>
            <a:r>
              <a:t>3,235.52s (~53.9m)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2600" b="1">
                <a:solidFill>
                  <a:srgbClr val="F8FAFC"/>
                </a:solidFill>
                <a:latin typeface="Arial"/>
              </a:defRPr>
            </a:pPr>
            <a:r>
              <a:t>EVALUATION RESULTS</a:t>
            </a:r>
          </a:p>
          <a:p>
            <a:pPr>
              <a:spcBef>
                <a:spcPts val="400"/>
              </a:spcBef>
              <a:defRPr sz="1300">
                <a:solidFill>
                  <a:srgbClr val="38BDF8"/>
                </a:solidFill>
                <a:latin typeface="Arial"/>
              </a:defRPr>
            </a:pPr>
            <a:r>
              <a:t>Rigorous Performance Benchmark on 500 Held-Out Test Images</a:t>
            </a:r>
          </a:p>
        </p:txBody>
      </p:sp>
      <p:sp>
        <p:nvSpPr>
          <p:cNvPr id="3" name="TextBox 2"/>
          <p:cNvSpPr txBox="1"/>
          <p:nvPr/>
        </p:nvSpPr>
        <p:spPr>
          <a:xfrm>
            <a:off x="731520" y="6217920"/>
            <a:ext cx="10728655" cy="365760"/>
          </a:xfrm>
          <a:prstGeom prst="rect">
            <a:avLst/>
          </a:prstGeom>
          <a:noFill/>
        </p:spPr>
        <p:txBody>
          <a:bodyPr wrap="none">
            <a:spAutoFit/>
          </a:bodyPr>
          <a:lstStyle/>
          <a:p>
            <a:pPr>
              <a:defRPr sz="900">
                <a:solidFill>
                  <a:srgbClr val="94A3B8"/>
                </a:solidFill>
                <a:latin typeface="Arial"/>
              </a:defRPr>
            </a:pPr>
            <a:r>
              <a:t>RAP Pre-Hackathon Submission | Slide 7 of 14</a:t>
            </a:r>
          </a:p>
        </p:txBody>
      </p:sp>
      <p:pic>
        <p:nvPicPr>
          <p:cNvPr id="4" name="Picture 3" descr="chart_per_class_map.png"/>
          <p:cNvPicPr>
            <a:picLocks noChangeAspect="1"/>
          </p:cNvPicPr>
          <p:nvPr/>
        </p:nvPicPr>
        <p:blipFill>
          <a:blip r:embed="rId2"/>
          <a:stretch>
            <a:fillRect/>
          </a:stretch>
        </p:blipFill>
        <p:spPr>
          <a:xfrm>
            <a:off x="731520" y="1554480"/>
            <a:ext cx="5943600" cy="4389120"/>
          </a:xfrm>
          <a:prstGeom prst="rect">
            <a:avLst/>
          </a:prstGeom>
        </p:spPr>
      </p:pic>
      <p:sp>
        <p:nvSpPr>
          <p:cNvPr id="5" name="Rectangle 4"/>
          <p:cNvSpPr/>
          <p:nvPr/>
        </p:nvSpPr>
        <p:spPr>
          <a:xfrm>
            <a:off x="6858000" y="1554480"/>
            <a:ext cx="2286000" cy="2011680"/>
          </a:xfrm>
          <a:prstGeom prst="rect">
            <a:avLst/>
          </a:prstGeom>
          <a:solidFill>
            <a:srgbClr val="1E293B"/>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tIns="365760"/>
          <a:lstStyle/>
          <a:p>
            <a:pPr algn="ctr">
              <a:defRPr sz="2800" b="1">
                <a:solidFill>
                  <a:srgbClr val="38BDF8"/>
                </a:solidFill>
              </a:defRPr>
            </a:pPr>
            <a:r>
              <a:t>0.5040</a:t>
            </a:r>
          </a:p>
          <a:p>
            <a:pPr algn="ctr">
              <a:spcBef>
                <a:spcPts val="600"/>
              </a:spcBef>
              <a:defRPr sz="1100">
                <a:solidFill>
                  <a:srgbClr val="F8FAFC"/>
                </a:solidFill>
              </a:defRPr>
            </a:pPr>
            <a:r>
              <a:t>mAP@0.5 (Overall)</a:t>
            </a:r>
          </a:p>
        </p:txBody>
      </p:sp>
      <p:sp>
        <p:nvSpPr>
          <p:cNvPr id="6" name="Rectangle 5"/>
          <p:cNvSpPr/>
          <p:nvPr/>
        </p:nvSpPr>
        <p:spPr>
          <a:xfrm>
            <a:off x="9418320" y="1554480"/>
            <a:ext cx="2286000" cy="2011680"/>
          </a:xfrm>
          <a:prstGeom prst="rect">
            <a:avLst/>
          </a:prstGeom>
          <a:solidFill>
            <a:srgbClr val="1E293B"/>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tIns="365760"/>
          <a:lstStyle/>
          <a:p>
            <a:pPr algn="ctr">
              <a:defRPr sz="2800" b="1">
                <a:solidFill>
                  <a:srgbClr val="38BDF8"/>
                </a:solidFill>
              </a:defRPr>
            </a:pPr>
            <a:r>
              <a:t>0.3408</a:t>
            </a:r>
          </a:p>
          <a:p>
            <a:pPr algn="ctr">
              <a:spcBef>
                <a:spcPts val="600"/>
              </a:spcBef>
              <a:defRPr sz="1100">
                <a:solidFill>
                  <a:srgbClr val="F8FAFC"/>
                </a:solidFill>
              </a:defRPr>
            </a:pPr>
            <a:r>
              <a:t>mAP@0.5:0.95</a:t>
            </a:r>
          </a:p>
        </p:txBody>
      </p:sp>
      <p:sp>
        <p:nvSpPr>
          <p:cNvPr id="7" name="Rectangle 6"/>
          <p:cNvSpPr/>
          <p:nvPr/>
        </p:nvSpPr>
        <p:spPr>
          <a:xfrm>
            <a:off x="6858000" y="3749039"/>
            <a:ext cx="2286000" cy="2011680"/>
          </a:xfrm>
          <a:prstGeom prst="rect">
            <a:avLst/>
          </a:prstGeom>
          <a:solidFill>
            <a:srgbClr val="1E293B"/>
          </a:solidFill>
          <a:ln>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tIns="365760"/>
          <a:lstStyle/>
          <a:p>
            <a:pPr algn="ctr">
              <a:defRPr sz="2800" b="1">
                <a:solidFill>
                  <a:srgbClr val="34D399"/>
                </a:solidFill>
              </a:defRPr>
            </a:pPr>
            <a:r>
              <a:t>0.5734</a:t>
            </a:r>
          </a:p>
          <a:p>
            <a:pPr algn="ctr">
              <a:spcBef>
                <a:spcPts val="600"/>
              </a:spcBef>
              <a:defRPr sz="1100">
                <a:solidFill>
                  <a:srgbClr val="F8FAFC"/>
                </a:solidFill>
              </a:defRPr>
            </a:pPr>
            <a:r>
              <a:t>Precision</a:t>
            </a:r>
          </a:p>
        </p:txBody>
      </p:sp>
      <p:sp>
        <p:nvSpPr>
          <p:cNvPr id="8" name="Rectangle 7"/>
          <p:cNvSpPr/>
          <p:nvPr/>
        </p:nvSpPr>
        <p:spPr>
          <a:xfrm>
            <a:off x="9418320" y="3749039"/>
            <a:ext cx="2286000" cy="2011680"/>
          </a:xfrm>
          <a:prstGeom prst="rect">
            <a:avLst/>
          </a:prstGeom>
          <a:solidFill>
            <a:srgbClr val="1E293B"/>
          </a:solidFill>
          <a:ln>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tIns="365760"/>
          <a:lstStyle/>
          <a:p>
            <a:pPr algn="ctr">
              <a:defRPr sz="2800" b="1">
                <a:solidFill>
                  <a:srgbClr val="34D399"/>
                </a:solidFill>
              </a:defRPr>
            </a:pPr>
            <a:r>
              <a:t>0.4873</a:t>
            </a:r>
          </a:p>
          <a:p>
            <a:pPr algn="ctr">
              <a:spcBef>
                <a:spcPts val="600"/>
              </a:spcBef>
              <a:defRPr sz="1100">
                <a:solidFill>
                  <a:srgbClr val="F8FAFC"/>
                </a:solidFill>
              </a:defRPr>
            </a:pPr>
            <a:r>
              <a:t>Recall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2600" b="1">
                <a:solidFill>
                  <a:srgbClr val="F8FAFC"/>
                </a:solidFill>
                <a:latin typeface="Arial"/>
              </a:defRPr>
            </a:pPr>
            <a:r>
              <a:t>WHERE THE MODEL FAILS</a:t>
            </a:r>
          </a:p>
          <a:p>
            <a:pPr>
              <a:spcBef>
                <a:spcPts val="400"/>
              </a:spcBef>
              <a:defRPr sz="1300">
                <a:solidFill>
                  <a:srgbClr val="38BDF8"/>
                </a:solidFill>
                <a:latin typeface="Arial"/>
              </a:defRPr>
            </a:pPr>
            <a:r>
              <a:t>Root-Cause Diagnostic of Real Detector Error Categories</a:t>
            </a:r>
          </a:p>
        </p:txBody>
      </p:sp>
      <p:sp>
        <p:nvSpPr>
          <p:cNvPr id="3" name="TextBox 2"/>
          <p:cNvSpPr txBox="1"/>
          <p:nvPr/>
        </p:nvSpPr>
        <p:spPr>
          <a:xfrm>
            <a:off x="731520" y="6217920"/>
            <a:ext cx="10728655" cy="365760"/>
          </a:xfrm>
          <a:prstGeom prst="rect">
            <a:avLst/>
          </a:prstGeom>
          <a:noFill/>
        </p:spPr>
        <p:txBody>
          <a:bodyPr wrap="none">
            <a:spAutoFit/>
          </a:bodyPr>
          <a:lstStyle/>
          <a:p>
            <a:pPr>
              <a:defRPr sz="900">
                <a:solidFill>
                  <a:srgbClr val="94A3B8"/>
                </a:solidFill>
                <a:latin typeface="Arial"/>
              </a:defRPr>
            </a:pPr>
            <a:r>
              <a:t>RAP Pre-Hackathon Submission | Slide 8 of 14</a:t>
            </a:r>
          </a:p>
        </p:txBody>
      </p:sp>
      <p:pic>
        <p:nvPicPr>
          <p:cNvPr id="4" name="Picture 3" descr="confusion_matrix_normalized.png"/>
          <p:cNvPicPr>
            <a:picLocks noChangeAspect="1"/>
          </p:cNvPicPr>
          <p:nvPr/>
        </p:nvPicPr>
        <p:blipFill>
          <a:blip r:embed="rId2"/>
          <a:stretch>
            <a:fillRect/>
          </a:stretch>
        </p:blipFill>
        <p:spPr>
          <a:xfrm>
            <a:off x="731520" y="1554480"/>
            <a:ext cx="4572000" cy="4389120"/>
          </a:xfrm>
          <a:prstGeom prst="rect">
            <a:avLst/>
          </a:prstGeom>
        </p:spPr>
      </p:pic>
      <p:sp>
        <p:nvSpPr>
          <p:cNvPr id="5" name="Rectangle 4"/>
          <p:cNvSpPr/>
          <p:nvPr/>
        </p:nvSpPr>
        <p:spPr>
          <a:xfrm>
            <a:off x="5486400" y="1554480"/>
            <a:ext cx="5973775" cy="438912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sz="1500" b="1">
                <a:solidFill>
                  <a:srgbClr val="F87171"/>
                </a:solidFill>
              </a:defRPr>
            </a:pPr>
            <a:r>
              <a:t>5 Root-Cause Failure Categories</a:t>
            </a:r>
          </a:p>
          <a:p>
            <a:pPr>
              <a:spcBef>
                <a:spcPts val="600"/>
              </a:spcBef>
              <a:defRPr sz="1100" b="1">
                <a:solidFill>
                  <a:srgbClr val="FB923C"/>
                </a:solidFill>
              </a:defRPr>
            </a:pPr>
            <a:r>
              <a:t>1. Same-Class Duplicate Boxes</a:t>
            </a:r>
          </a:p>
          <a:p>
            <a:pPr>
              <a:defRPr sz="1000">
                <a:solidFill>
                  <a:srgbClr val="F8FAFC"/>
                </a:solidFill>
              </a:defRPr>
            </a:pPr>
            <a:r>
              <a:t>  ↳ Nested predictions on large objects -&gt; Addressed via Containment IoS</a:t>
            </a:r>
          </a:p>
          <a:p>
            <a:pPr>
              <a:spcBef>
                <a:spcPts val="600"/>
              </a:spcBef>
              <a:defRPr sz="1100" b="1">
                <a:solidFill>
                  <a:srgbClr val="FB923C"/>
                </a:solidFill>
              </a:defRPr>
            </a:pPr>
            <a:r>
              <a:t>2. Cross-Class Duplicates</a:t>
            </a:r>
          </a:p>
          <a:p>
            <a:pPr>
              <a:defRPr sz="1000">
                <a:solidFill>
                  <a:srgbClr val="F8FAFC"/>
                </a:solidFill>
              </a:defRPr>
            </a:pPr>
            <a:r>
              <a:t>  ↳ Container vs truck overlap -&gt; Addressed via Cross-Class IoU 0.80</a:t>
            </a:r>
          </a:p>
          <a:p>
            <a:pPr>
              <a:spcBef>
                <a:spcPts val="600"/>
              </a:spcBef>
              <a:defRPr sz="1100" b="1">
                <a:solidFill>
                  <a:srgbClr val="FB923C"/>
                </a:solidFill>
              </a:defRPr>
            </a:pPr>
            <a:r>
              <a:t>3. Container Sub-Region Splits</a:t>
            </a:r>
          </a:p>
          <a:p>
            <a:pPr>
              <a:defRPr sz="1000">
                <a:solidFill>
                  <a:srgbClr val="F8FAFC"/>
                </a:solidFill>
              </a:defRPr>
            </a:pPr>
            <a:r>
              <a:t>  ↳ Large bodies split into parts -&gt; Explains low Container mAP (16.83%)</a:t>
            </a:r>
          </a:p>
          <a:p>
            <a:pPr>
              <a:spcBef>
                <a:spcPts val="600"/>
              </a:spcBef>
              <a:defRPr sz="1100" b="1">
                <a:solidFill>
                  <a:srgbClr val="FB923C"/>
                </a:solidFill>
              </a:defRPr>
            </a:pPr>
            <a:r>
              <a:t>4. Box vs Pallet Confusion</a:t>
            </a:r>
          </a:p>
          <a:p>
            <a:pPr>
              <a:defRPr sz="1000">
                <a:solidFill>
                  <a:srgbClr val="F8FAFC"/>
                </a:solidFill>
              </a:defRPr>
            </a:pPr>
            <a:r>
              <a:t>  ↳ Small packed boxes missed -&gt; Explains low Cardboard Recall (28.30%)</a:t>
            </a:r>
          </a:p>
          <a:p>
            <a:pPr>
              <a:spcBef>
                <a:spcPts val="600"/>
              </a:spcBef>
              <a:defRPr sz="1100" b="1">
                <a:solidFill>
                  <a:srgbClr val="FB923C"/>
                </a:solidFill>
              </a:defRPr>
            </a:pPr>
            <a:r>
              <a:t>5. Border Edge Artifacts</a:t>
            </a:r>
          </a:p>
          <a:p>
            <a:pPr>
              <a:defRPr sz="1000">
                <a:solidFill>
                  <a:srgbClr val="F8FAFC"/>
                </a:solidFill>
              </a:defRPr>
            </a:pPr>
            <a:r>
              <a:t>  ↳ Truncated edge detections -&gt; Addressed via Inside Ratio &lt; 0.50 Filter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2600" b="1">
                <a:solidFill>
                  <a:srgbClr val="F8FAFC"/>
                </a:solidFill>
                <a:latin typeface="Arial"/>
              </a:defRPr>
            </a:pPr>
            <a:r>
              <a:t>CUSTOM POST-PROCESSING PIPELINE</a:t>
            </a:r>
          </a:p>
          <a:p>
            <a:pPr>
              <a:spcBef>
                <a:spcPts val="400"/>
              </a:spcBef>
              <a:defRPr sz="1300">
                <a:solidFill>
                  <a:srgbClr val="38BDF8"/>
                </a:solidFill>
                <a:latin typeface="Arial"/>
              </a:defRPr>
            </a:pPr>
            <a:r>
              <a:t>4-Stage Rule Engine for Error Mitigation &amp; Output Cleanup</a:t>
            </a:r>
          </a:p>
        </p:txBody>
      </p:sp>
      <p:sp>
        <p:nvSpPr>
          <p:cNvPr id="3" name="TextBox 2"/>
          <p:cNvSpPr txBox="1"/>
          <p:nvPr/>
        </p:nvSpPr>
        <p:spPr>
          <a:xfrm>
            <a:off x="731520" y="6217920"/>
            <a:ext cx="10728655" cy="365760"/>
          </a:xfrm>
          <a:prstGeom prst="rect">
            <a:avLst/>
          </a:prstGeom>
          <a:noFill/>
        </p:spPr>
        <p:txBody>
          <a:bodyPr wrap="none">
            <a:spAutoFit/>
          </a:bodyPr>
          <a:lstStyle/>
          <a:p>
            <a:pPr>
              <a:defRPr sz="900">
                <a:solidFill>
                  <a:srgbClr val="94A3B8"/>
                </a:solidFill>
                <a:latin typeface="Arial"/>
              </a:defRPr>
            </a:pPr>
            <a:r>
              <a:t>RAP Pre-Hackathon Submission | Slide 9 of 14</a:t>
            </a:r>
          </a:p>
        </p:txBody>
      </p:sp>
      <p:pic>
        <p:nvPicPr>
          <p:cNvPr id="4" name="Picture 3" descr="chart_nms_pipeline.png"/>
          <p:cNvPicPr>
            <a:picLocks noChangeAspect="1"/>
          </p:cNvPicPr>
          <p:nvPr/>
        </p:nvPicPr>
        <p:blipFill>
          <a:blip r:embed="rId2"/>
          <a:stretch>
            <a:fillRect/>
          </a:stretch>
        </p:blipFill>
        <p:spPr>
          <a:xfrm>
            <a:off x="731520" y="1554480"/>
            <a:ext cx="5669280" cy="4389120"/>
          </a:xfrm>
          <a:prstGeom prst="rect">
            <a:avLst/>
          </a:prstGeom>
        </p:spPr>
      </p:pic>
      <p:sp>
        <p:nvSpPr>
          <p:cNvPr id="5" name="Rectangle 4"/>
          <p:cNvSpPr/>
          <p:nvPr/>
        </p:nvSpPr>
        <p:spPr>
          <a:xfrm>
            <a:off x="6583680" y="1554480"/>
            <a:ext cx="4876495" cy="438912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bIns="274320"/>
          <a:lstStyle/>
          <a:p>
            <a:pPr algn="ctr">
              <a:defRPr sz="1600" b="1">
                <a:solidFill>
                  <a:srgbClr val="38BDF8"/>
                </a:solidFill>
              </a:defRPr>
            </a:pPr>
            <a:r>
              <a:t>Key System Insights</a:t>
            </a:r>
          </a:p>
          <a:p>
            <a:pPr>
              <a:spcBef>
                <a:spcPts val="800"/>
              </a:spcBef>
              <a:defRPr sz="1100">
                <a:solidFill>
                  <a:srgbClr val="F8FAFC"/>
                </a:solidFill>
              </a:defRPr>
            </a:pPr>
            <a:r>
              <a:t>• Stage 1: Class-Aware NMS (IoU = 0.45) — Eliminates standard same-class bounding box overlap.</a:t>
            </a:r>
          </a:p>
          <a:p>
            <a:pPr>
              <a:spcBef>
                <a:spcPts val="800"/>
              </a:spcBef>
              <a:defRPr sz="1100">
                <a:solidFill>
                  <a:srgbClr val="F8FAFC"/>
                </a:solidFill>
              </a:defRPr>
            </a:pPr>
            <a:r>
              <a:t>• Stage 2: Containment Suppression (IoS = 0.65) — Removes internal sub-region duplicates nested inside large boxes.</a:t>
            </a:r>
          </a:p>
          <a:p>
            <a:pPr>
              <a:spcBef>
                <a:spcPts val="800"/>
              </a:spcBef>
              <a:defRPr sz="1100">
                <a:solidFill>
                  <a:srgbClr val="F8FAFC"/>
                </a:solidFill>
              </a:defRPr>
            </a:pPr>
            <a:r>
              <a:t>• Stage 3: Boundary Artifact Filter — Drops edge boxes with conf &lt; 0.30 AND inside_ratio &lt; 0.50.</a:t>
            </a:r>
          </a:p>
          <a:p>
            <a:pPr>
              <a:spcBef>
                <a:spcPts val="800"/>
              </a:spcBef>
              <a:defRPr sz="1100">
                <a:solidFill>
                  <a:srgbClr val="F8FAFC"/>
                </a:solidFill>
              </a:defRPr>
            </a:pPr>
            <a:r>
              <a:t>• Stage 4: Cross-Class Overlap Suppression (IoU = 0.80) — Resolves multi-class box collisions by keeping highest confidence box.</a:t>
            </a:r>
          </a:p>
          <a:p>
            <a:pPr>
              <a:spcBef>
                <a:spcPts val="800"/>
              </a:spcBef>
              <a:defRPr sz="1100">
                <a:solidFill>
                  <a:srgbClr val="F8FAFC"/>
                </a:solidFill>
              </a:defRPr>
            </a:pPr>
            <a:r>
              <a:t>• Automated Verification: 48 PyTest unit tests passing with zero failures.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2600" b="1">
                <a:solidFill>
                  <a:srgbClr val="F8FAFC"/>
                </a:solidFill>
                <a:latin typeface="Arial"/>
              </a:defRPr>
            </a:pPr>
            <a:r>
              <a:t>DETERMINISTIC REASONING ENGINE</a:t>
            </a:r>
          </a:p>
          <a:p>
            <a:pPr>
              <a:spcBef>
                <a:spcPts val="400"/>
              </a:spcBef>
              <a:defRPr sz="1300">
                <a:solidFill>
                  <a:srgbClr val="38BDF8"/>
                </a:solidFill>
                <a:latin typeface="Arial"/>
              </a:defRPr>
            </a:pPr>
            <a:r>
              <a:t>Structured Natural Language Q&amp;A with Strict Refusal Guardrails</a:t>
            </a:r>
          </a:p>
        </p:txBody>
      </p:sp>
      <p:sp>
        <p:nvSpPr>
          <p:cNvPr id="3" name="TextBox 2"/>
          <p:cNvSpPr txBox="1"/>
          <p:nvPr/>
        </p:nvSpPr>
        <p:spPr>
          <a:xfrm>
            <a:off x="731520" y="6217920"/>
            <a:ext cx="10728655" cy="365760"/>
          </a:xfrm>
          <a:prstGeom prst="rect">
            <a:avLst/>
          </a:prstGeom>
          <a:noFill/>
        </p:spPr>
        <p:txBody>
          <a:bodyPr wrap="none">
            <a:spAutoFit/>
          </a:bodyPr>
          <a:lstStyle/>
          <a:p>
            <a:pPr>
              <a:defRPr sz="900">
                <a:solidFill>
                  <a:srgbClr val="94A3B8"/>
                </a:solidFill>
                <a:latin typeface="Arial"/>
              </a:defRPr>
            </a:pPr>
            <a:r>
              <a:t>RAP Pre-Hackathon Submission | Slide 10 of 14</a:t>
            </a:r>
          </a:p>
        </p:txBody>
      </p:sp>
      <p:sp>
        <p:nvSpPr>
          <p:cNvPr id="4" name="Rectangle 3"/>
          <p:cNvSpPr/>
          <p:nvPr/>
        </p:nvSpPr>
        <p:spPr>
          <a:xfrm>
            <a:off x="731520" y="1554480"/>
            <a:ext cx="5212080" cy="438912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bIns="274320"/>
          <a:lstStyle/>
          <a:p>
            <a:pPr algn="ctr">
              <a:defRPr sz="1600" b="1">
                <a:solidFill>
                  <a:srgbClr val="38BDF8"/>
                </a:solidFill>
              </a:defRPr>
            </a:pPr>
            <a:r>
              <a:t>6 Deterministic Intents</a:t>
            </a:r>
          </a:p>
          <a:p>
            <a:pPr>
              <a:spcBef>
                <a:spcPts val="800"/>
              </a:spcBef>
              <a:defRPr sz="1100">
                <a:solidFill>
                  <a:srgbClr val="F8FAFC"/>
                </a:solidFill>
              </a:defRPr>
            </a:pPr>
            <a:r>
              <a:t>• COUNT: 'How many objects / forklifts are there?'</a:t>
            </a:r>
          </a:p>
          <a:p>
            <a:pPr>
              <a:spcBef>
                <a:spcPts val="800"/>
              </a:spcBef>
              <a:defRPr sz="1100">
                <a:solidFill>
                  <a:srgbClr val="F8FAFC"/>
                </a:solidFill>
              </a:defRPr>
            </a:pPr>
            <a:r>
              <a:t>• PRESENCE: 'Is there a truck in the warehouse?'</a:t>
            </a:r>
          </a:p>
          <a:p>
            <a:pPr>
              <a:spcBef>
                <a:spcPts val="800"/>
              </a:spcBef>
              <a:defRPr sz="1100">
                <a:solidFill>
                  <a:srgbClr val="F8FAFC"/>
                </a:solidFill>
              </a:defRPr>
            </a:pPr>
            <a:r>
              <a:t>• LIST: 'What objects are visible in the scene?'</a:t>
            </a:r>
          </a:p>
          <a:p>
            <a:pPr>
              <a:spcBef>
                <a:spcPts val="800"/>
              </a:spcBef>
              <a:defRPr sz="1100">
                <a:solidFill>
                  <a:srgbClr val="F8FAFC"/>
                </a:solidFill>
              </a:defRPr>
            </a:pPr>
            <a:r>
              <a:t>• MOST_COMMON: 'What is the dominant object class?'</a:t>
            </a:r>
          </a:p>
          <a:p>
            <a:pPr>
              <a:spcBef>
                <a:spcPts val="800"/>
              </a:spcBef>
              <a:defRPr sz="1100">
                <a:solidFill>
                  <a:srgbClr val="F8FAFC"/>
                </a:solidFill>
              </a:defRPr>
            </a:pPr>
            <a:r>
              <a:t>• SPATIAL: 'Where is the cardboard box located?'</a:t>
            </a:r>
          </a:p>
          <a:p>
            <a:pPr>
              <a:spcBef>
                <a:spcPts val="800"/>
              </a:spcBef>
              <a:defRPr sz="1100">
                <a:solidFill>
                  <a:srgbClr val="F8FAFC"/>
                </a:solidFill>
              </a:defRPr>
            </a:pPr>
            <a:r>
              <a:t>• UNKNOWN: Out-of-scope questions -&gt; Triggers Refusal Guardrail.</a:t>
            </a:r>
          </a:p>
        </p:txBody>
      </p:sp>
      <p:sp>
        <p:nvSpPr>
          <p:cNvPr id="5" name="Rectangle 4"/>
          <p:cNvSpPr/>
          <p:nvPr/>
        </p:nvSpPr>
        <p:spPr>
          <a:xfrm>
            <a:off x="6217920" y="1554480"/>
            <a:ext cx="5242255" cy="438912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bIns="274320"/>
          <a:lstStyle/>
          <a:p>
            <a:pPr algn="ctr">
              <a:defRPr sz="1600" b="1">
                <a:solidFill>
                  <a:srgbClr val="34D399"/>
                </a:solidFill>
              </a:defRPr>
            </a:pPr>
            <a:r>
              <a:t>Guardrails &amp; Zero Hallucination</a:t>
            </a:r>
          </a:p>
          <a:p>
            <a:pPr>
              <a:spcBef>
                <a:spcPts val="800"/>
              </a:spcBef>
              <a:defRPr sz="1100">
                <a:solidFill>
                  <a:srgbClr val="F8FAFC"/>
                </a:solidFill>
              </a:defRPr>
            </a:pPr>
            <a:r>
              <a:t>1. Framework Constraint: Zero agentic frameworks (No LangChain, No CrewAI).</a:t>
            </a:r>
          </a:p>
          <a:p>
            <a:pPr>
              <a:spcBef>
                <a:spcPts val="800"/>
              </a:spcBef>
              <a:defRPr sz="1100">
                <a:solidFill>
                  <a:srgbClr val="F8FAFC"/>
                </a:solidFill>
              </a:defRPr>
            </a:pPr>
            <a:r>
              <a:t>2. Global Confidence Floor: 0.25 detector confidence threshold.</a:t>
            </a:r>
          </a:p>
          <a:p>
            <a:pPr>
              <a:spcBef>
                <a:spcPts val="800"/>
              </a:spcBef>
              <a:defRPr sz="1100">
                <a:solidFill>
                  <a:srgbClr val="F8FAFC"/>
                </a:solidFill>
              </a:defRPr>
            </a:pPr>
            <a:r>
              <a:t>3. High-Confidence Threshold: 0.50 threshold for affirmative assertions.</a:t>
            </a:r>
          </a:p>
          <a:p>
            <a:pPr>
              <a:spcBef>
                <a:spcPts val="800"/>
              </a:spcBef>
              <a:defRPr sz="1100">
                <a:solidFill>
                  <a:srgbClr val="F8FAFC"/>
                </a:solidFill>
              </a:defRPr>
            </a:pPr>
            <a:r>
              <a:t>4. Refusal Policy: Explicitly returns 'insufficient information' if detections are absent or uncertain.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2600" b="1">
                <a:solidFill>
                  <a:srgbClr val="F8FAFC"/>
                </a:solidFill>
                <a:latin typeface="Arial"/>
              </a:defRPr>
            </a:pPr>
            <a:r>
              <a:t>END-TO-END SYSTEM ARCHITECTURE</a:t>
            </a:r>
          </a:p>
          <a:p>
            <a:pPr>
              <a:spcBef>
                <a:spcPts val="400"/>
              </a:spcBef>
              <a:defRPr sz="1300">
                <a:solidFill>
                  <a:srgbClr val="38BDF8"/>
                </a:solidFill>
                <a:latin typeface="Arial"/>
              </a:defRPr>
            </a:pPr>
            <a:r>
              <a:t>Decoupled Production Microservice Architecture on AWS EC2</a:t>
            </a:r>
          </a:p>
        </p:txBody>
      </p:sp>
      <p:sp>
        <p:nvSpPr>
          <p:cNvPr id="3" name="TextBox 2"/>
          <p:cNvSpPr txBox="1"/>
          <p:nvPr/>
        </p:nvSpPr>
        <p:spPr>
          <a:xfrm>
            <a:off x="731520" y="6217920"/>
            <a:ext cx="10728655" cy="365760"/>
          </a:xfrm>
          <a:prstGeom prst="rect">
            <a:avLst/>
          </a:prstGeom>
          <a:noFill/>
        </p:spPr>
        <p:txBody>
          <a:bodyPr wrap="none">
            <a:spAutoFit/>
          </a:bodyPr>
          <a:lstStyle/>
          <a:p>
            <a:pPr>
              <a:defRPr sz="900">
                <a:solidFill>
                  <a:srgbClr val="94A3B8"/>
                </a:solidFill>
                <a:latin typeface="Arial"/>
              </a:defRPr>
            </a:pPr>
            <a:r>
              <a:t>RAP Pre-Hackathon Submission | Slide 11 of 14</a:t>
            </a:r>
          </a:p>
        </p:txBody>
      </p:sp>
      <p:pic>
        <p:nvPicPr>
          <p:cNvPr id="4" name="Picture 3" descr="chart_system_arch.png"/>
          <p:cNvPicPr>
            <a:picLocks noChangeAspect="1"/>
          </p:cNvPicPr>
          <p:nvPr/>
        </p:nvPicPr>
        <p:blipFill>
          <a:blip r:embed="rId2"/>
          <a:stretch>
            <a:fillRect/>
          </a:stretch>
        </p:blipFill>
        <p:spPr>
          <a:xfrm>
            <a:off x="731520" y="1554480"/>
            <a:ext cx="5669280" cy="4389120"/>
          </a:xfrm>
          <a:prstGeom prst="rect">
            <a:avLst/>
          </a:prstGeom>
        </p:spPr>
      </p:pic>
      <p:sp>
        <p:nvSpPr>
          <p:cNvPr id="5" name="Rectangle 4"/>
          <p:cNvSpPr/>
          <p:nvPr/>
        </p:nvSpPr>
        <p:spPr>
          <a:xfrm>
            <a:off x="6583680" y="1554480"/>
            <a:ext cx="4876495" cy="438912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bIns="274320"/>
          <a:lstStyle/>
          <a:p>
            <a:pPr algn="ctr">
              <a:defRPr sz="1600" b="1">
                <a:solidFill>
                  <a:srgbClr val="38BDF8"/>
                </a:solidFill>
              </a:defRPr>
            </a:pPr>
            <a:r>
              <a:t>Key System Insights</a:t>
            </a:r>
          </a:p>
          <a:p>
            <a:pPr>
              <a:spcBef>
                <a:spcPts val="800"/>
              </a:spcBef>
              <a:defRPr sz="1100">
                <a:solidFill>
                  <a:srgbClr val="F8FAFC"/>
                </a:solidFill>
              </a:defRPr>
            </a:pPr>
            <a:r>
              <a:t>• Ingress Layer: Nginx reverse proxy listening on public Port 80.</a:t>
            </a:r>
          </a:p>
          <a:p>
            <a:pPr>
              <a:spcBef>
                <a:spcPts val="800"/>
              </a:spcBef>
              <a:defRPr sz="1100">
                <a:solidFill>
                  <a:srgbClr val="F8FAFC"/>
                </a:solidFill>
              </a:defRPr>
            </a:pPr>
            <a:r>
              <a:t>• Security Controls: Port 7860 bound exclusively to local container network.</a:t>
            </a:r>
          </a:p>
          <a:p>
            <a:pPr>
              <a:spcBef>
                <a:spcPts val="800"/>
              </a:spcBef>
              <a:defRPr sz="1100">
                <a:solidFill>
                  <a:srgbClr val="F8FAFC"/>
                </a:solidFill>
              </a:defRPr>
            </a:pPr>
            <a:r>
              <a:t>• Application Core: FastAPI + Uvicorn engine running detector &amp; reasoning modules.</a:t>
            </a:r>
          </a:p>
          <a:p>
            <a:pPr>
              <a:spcBef>
                <a:spcPts val="800"/>
              </a:spcBef>
              <a:defRPr sz="1100">
                <a:solidFill>
                  <a:srgbClr val="F8FAFC"/>
                </a:solidFill>
              </a:defRPr>
            </a:pPr>
            <a:r>
              <a:t>• Containerization: Docker &amp; Docker Compose setup with volume mounts.</a:t>
            </a:r>
          </a:p>
          <a:p>
            <a:pPr>
              <a:spcBef>
                <a:spcPts val="800"/>
              </a:spcBef>
              <a:defRPr sz="1100">
                <a:solidFill>
                  <a:srgbClr val="F8FAFC"/>
                </a:solidFill>
              </a:defRPr>
            </a:pPr>
            <a:r>
              <a:t>• Infrastructure as Code: Terraform scripts managing Security Groups, EC2, and EBS storage.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2600" b="1">
                <a:solidFill>
                  <a:srgbClr val="F8FAFC"/>
                </a:solidFill>
                <a:latin typeface="Arial"/>
              </a:defRPr>
            </a:pPr>
            <a:r>
              <a:t>API DEMONSTRATION &amp; SCHEMAS</a:t>
            </a:r>
          </a:p>
          <a:p>
            <a:pPr>
              <a:spcBef>
                <a:spcPts val="400"/>
              </a:spcBef>
              <a:defRPr sz="1300">
                <a:solidFill>
                  <a:srgbClr val="38BDF8"/>
                </a:solidFill>
                <a:latin typeface="Arial"/>
              </a:defRPr>
            </a:pPr>
            <a:r>
              <a:t>Production JSON Contracts for Bounding Box Extraction and Q&amp;A</a:t>
            </a:r>
          </a:p>
        </p:txBody>
      </p:sp>
      <p:sp>
        <p:nvSpPr>
          <p:cNvPr id="3" name="TextBox 2"/>
          <p:cNvSpPr txBox="1"/>
          <p:nvPr/>
        </p:nvSpPr>
        <p:spPr>
          <a:xfrm>
            <a:off x="731520" y="6217920"/>
            <a:ext cx="10728655" cy="365760"/>
          </a:xfrm>
          <a:prstGeom prst="rect">
            <a:avLst/>
          </a:prstGeom>
          <a:noFill/>
        </p:spPr>
        <p:txBody>
          <a:bodyPr wrap="none">
            <a:spAutoFit/>
          </a:bodyPr>
          <a:lstStyle/>
          <a:p>
            <a:pPr>
              <a:defRPr sz="900">
                <a:solidFill>
                  <a:srgbClr val="94A3B8"/>
                </a:solidFill>
                <a:latin typeface="Arial"/>
              </a:defRPr>
            </a:pPr>
            <a:r>
              <a:t>RAP Pre-Hackathon Submission | Slide 12 of 14</a:t>
            </a:r>
          </a:p>
        </p:txBody>
      </p:sp>
      <p:sp>
        <p:nvSpPr>
          <p:cNvPr id="4" name="Rectangle 3"/>
          <p:cNvSpPr/>
          <p:nvPr/>
        </p:nvSpPr>
        <p:spPr>
          <a:xfrm>
            <a:off x="731520" y="1554480"/>
            <a:ext cx="5212080" cy="438912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bIns="274320"/>
          <a:lstStyle/>
          <a:p>
            <a:pPr algn="ctr">
              <a:defRPr sz="1400" b="1">
                <a:solidFill>
                  <a:srgbClr val="38BDF8"/>
                </a:solidFill>
              </a:defRPr>
            </a:pPr>
            <a:r>
              <a:t>POST /detect Response Payload</a:t>
            </a:r>
          </a:p>
          <a:p>
            <a:pPr>
              <a:spcBef>
                <a:spcPts val="800"/>
              </a:spcBef>
              <a:defRPr sz="950">
                <a:solidFill>
                  <a:srgbClr val="34D399"/>
                </a:solidFill>
                <a:latin typeface="Courier New"/>
              </a:defRPr>
            </a:pPr>
            <a:r>
              <a:t>{</a:t>
            </a:r>
            <a:br/>
            <a:r>
              <a:t>  "objects": [</a:t>
            </a:r>
            <a:br/>
            <a:r>
              <a:t>    {</a:t>
            </a:r>
            <a:br/>
            <a:r>
              <a:t>      "class": "wood pallet",</a:t>
            </a:r>
            <a:br/>
            <a:r>
              <a:t>      "confidence": 0.2783,</a:t>
            </a:r>
            <a:br/>
            <a:r>
              <a:t>      "bbox": {"x1": 85.9, "y1": 38.9, "x2": 616.5, "y2": 635.7}</a:t>
            </a:r>
            <a:br/>
            <a:r>
              <a:t>    }</a:t>
            </a:r>
            <a:br/>
            <a:r>
              <a:t>  ],</a:t>
            </a:r>
            <a:br/>
            <a:r>
              <a:t>  "num_detections": 1,</a:t>
            </a:r>
            <a:br/>
            <a:r>
              <a:t>  "image_size": [640, 640]</a:t>
            </a:r>
            <a:br/>
            <a:r>
              <a:t>}</a:t>
            </a:r>
          </a:p>
        </p:txBody>
      </p:sp>
      <p:sp>
        <p:nvSpPr>
          <p:cNvPr id="5" name="Rectangle 4"/>
          <p:cNvSpPr/>
          <p:nvPr/>
        </p:nvSpPr>
        <p:spPr>
          <a:xfrm>
            <a:off x="6217920" y="1554480"/>
            <a:ext cx="5242255" cy="438912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bIns="274320"/>
          <a:lstStyle/>
          <a:p>
            <a:pPr algn="ctr">
              <a:defRPr sz="1400" b="1">
                <a:solidFill>
                  <a:srgbClr val="38BDF8"/>
                </a:solidFill>
              </a:defRPr>
            </a:pPr>
            <a:r>
              <a:t>POST /ask Response Payload</a:t>
            </a:r>
          </a:p>
          <a:p>
            <a:pPr>
              <a:spcBef>
                <a:spcPts val="800"/>
              </a:spcBef>
              <a:defRPr sz="950">
                <a:solidFill>
                  <a:srgbClr val="34D399"/>
                </a:solidFill>
                <a:latin typeface="Courier New"/>
              </a:defRPr>
            </a:pPr>
            <a:r>
              <a:t>{</a:t>
            </a:r>
            <a:br/>
            <a:r>
              <a:t>  "answer": "Detected: 1 wood pallet. Total: 1 object(s).",</a:t>
            </a:r>
            <a:br/>
            <a:r>
              <a:t>  "used_detector": true,</a:t>
            </a:r>
            <a:br/>
            <a:r>
              <a:t>  "intent": "COUNT",</a:t>
            </a:r>
            <a:br/>
            <a:r>
              <a:t>  "confidence": "medium",</a:t>
            </a:r>
            <a:br/>
            <a:r>
              <a:t>  "detections_count": 1</a:t>
            </a:r>
            <a:br/>
            <a: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2600" b="1">
                <a:solidFill>
                  <a:srgbClr val="F8FAFC"/>
                </a:solidFill>
                <a:latin typeface="Arial"/>
              </a:defRPr>
            </a:pPr>
            <a:r>
              <a:t>AWS INFRASTRUCTURE &amp; DEPLOYMENT</a:t>
            </a:r>
          </a:p>
          <a:p>
            <a:pPr>
              <a:spcBef>
                <a:spcPts val="400"/>
              </a:spcBef>
              <a:defRPr sz="1300">
                <a:solidFill>
                  <a:srgbClr val="38BDF8"/>
                </a:solidFill>
                <a:latin typeface="Arial"/>
              </a:defRPr>
            </a:pPr>
            <a:r>
              <a:t>Cloud Hosting, Infrastructure as Code, and Operational Incident Resolution</a:t>
            </a:r>
          </a:p>
        </p:txBody>
      </p:sp>
      <p:sp>
        <p:nvSpPr>
          <p:cNvPr id="3" name="TextBox 2"/>
          <p:cNvSpPr txBox="1"/>
          <p:nvPr/>
        </p:nvSpPr>
        <p:spPr>
          <a:xfrm>
            <a:off x="731520" y="6217920"/>
            <a:ext cx="10728655" cy="365760"/>
          </a:xfrm>
          <a:prstGeom prst="rect">
            <a:avLst/>
          </a:prstGeom>
          <a:noFill/>
        </p:spPr>
        <p:txBody>
          <a:bodyPr wrap="none">
            <a:spAutoFit/>
          </a:bodyPr>
          <a:lstStyle/>
          <a:p>
            <a:pPr>
              <a:defRPr sz="900">
                <a:solidFill>
                  <a:srgbClr val="94A3B8"/>
                </a:solidFill>
                <a:latin typeface="Arial"/>
              </a:defRPr>
            </a:pPr>
            <a:r>
              <a:t>RAP Pre-Hackathon Submission | Slide 13 of 14</a:t>
            </a:r>
          </a:p>
        </p:txBody>
      </p:sp>
      <p:pic>
        <p:nvPicPr>
          <p:cNvPr id="4" name="Picture 3" descr="chart_aws_deploy.png"/>
          <p:cNvPicPr>
            <a:picLocks noChangeAspect="1"/>
          </p:cNvPicPr>
          <p:nvPr/>
        </p:nvPicPr>
        <p:blipFill>
          <a:blip r:embed="rId2"/>
          <a:stretch>
            <a:fillRect/>
          </a:stretch>
        </p:blipFill>
        <p:spPr>
          <a:xfrm>
            <a:off x="731520" y="1554480"/>
            <a:ext cx="5669280" cy="4389120"/>
          </a:xfrm>
          <a:prstGeom prst="rect">
            <a:avLst/>
          </a:prstGeom>
        </p:spPr>
      </p:pic>
      <p:sp>
        <p:nvSpPr>
          <p:cNvPr id="5" name="Rectangle 4"/>
          <p:cNvSpPr/>
          <p:nvPr/>
        </p:nvSpPr>
        <p:spPr>
          <a:xfrm>
            <a:off x="6583680" y="1554480"/>
            <a:ext cx="4876495" cy="438912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bIns="274320"/>
          <a:lstStyle/>
          <a:p>
            <a:pPr algn="ctr">
              <a:defRPr sz="1600" b="1">
                <a:solidFill>
                  <a:srgbClr val="34D399"/>
                </a:solidFill>
              </a:defRPr>
            </a:pPr>
            <a:r>
              <a:t>Key Breakdown</a:t>
            </a:r>
          </a:p>
          <a:p>
            <a:pPr>
              <a:spcBef>
                <a:spcPts val="800"/>
              </a:spcBef>
              <a:defRPr sz="1100">
                <a:solidFill>
                  <a:srgbClr val="F8FAFC"/>
                </a:solidFill>
              </a:defRPr>
            </a:pPr>
            <a:r>
              <a:t>• Host Specifications: AWS ap-south-1 (Mumbai) | t3.small (2 vCPU, 2GB RAM + 2GB Swap).</a:t>
            </a:r>
          </a:p>
          <a:p>
            <a:pPr>
              <a:spcBef>
                <a:spcPts val="800"/>
              </a:spcBef>
              <a:defRPr sz="1100">
                <a:solidFill>
                  <a:srgbClr val="F8FAFC"/>
                </a:solidFill>
              </a:defRPr>
            </a:pPr>
            <a:r>
              <a:t>• Storage Expansion: 40 GiB gp3 EBS volume provisioned via Terraform.</a:t>
            </a:r>
          </a:p>
          <a:p>
            <a:pPr>
              <a:spcBef>
                <a:spcPts val="800"/>
              </a:spcBef>
              <a:defRPr sz="1100">
                <a:solidFill>
                  <a:srgbClr val="F8FAFC"/>
                </a:solidFill>
              </a:defRPr>
            </a:pPr>
            <a:r>
              <a:t>• Deployment Incident: Initial 20 GiB EBS disk exhausted space during PyTorch layer extraction.</a:t>
            </a:r>
          </a:p>
          <a:p>
            <a:pPr>
              <a:spcBef>
                <a:spcPts val="800"/>
              </a:spcBef>
              <a:defRPr sz="1100">
                <a:solidFill>
                  <a:srgbClr val="F8FAFC"/>
                </a:solidFill>
              </a:defRPr>
            </a:pPr>
            <a:r>
              <a:t>• Operational Fix: Expanded EBS to 40 GiB, executed online growpart &amp; resize2fs without downtime.</a:t>
            </a:r>
          </a:p>
          <a:p>
            <a:pPr>
              <a:spcBef>
                <a:spcPts val="800"/>
              </a:spcBef>
              <a:defRPr sz="1100">
                <a:solidFill>
                  <a:srgbClr val="F8FAFC"/>
                </a:solidFill>
              </a:defRPr>
            </a:pPr>
            <a:r>
              <a:t>• Live Base API URL: http://13.233.255.22 (Swagger Docs: http://13.233.255.22/docs).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2600" b="1">
                <a:solidFill>
                  <a:srgbClr val="F8FAFC"/>
                </a:solidFill>
                <a:latin typeface="Arial"/>
              </a:defRPr>
            </a:pPr>
            <a:r>
              <a:t>RESULTS, LIMITATIONS &amp; FUTURE WORK</a:t>
            </a:r>
          </a:p>
          <a:p>
            <a:pPr>
              <a:spcBef>
                <a:spcPts val="400"/>
              </a:spcBef>
              <a:defRPr sz="1300">
                <a:solidFill>
                  <a:srgbClr val="38BDF8"/>
                </a:solidFill>
                <a:latin typeface="Arial"/>
              </a:defRPr>
            </a:pPr>
            <a:r>
              <a:t>Project Victories, Known Constraints, and Next-Generation Roadmap</a:t>
            </a:r>
          </a:p>
        </p:txBody>
      </p:sp>
      <p:sp>
        <p:nvSpPr>
          <p:cNvPr id="3" name="TextBox 2"/>
          <p:cNvSpPr txBox="1"/>
          <p:nvPr/>
        </p:nvSpPr>
        <p:spPr>
          <a:xfrm>
            <a:off x="731520" y="6217920"/>
            <a:ext cx="10728655" cy="365760"/>
          </a:xfrm>
          <a:prstGeom prst="rect">
            <a:avLst/>
          </a:prstGeom>
          <a:noFill/>
        </p:spPr>
        <p:txBody>
          <a:bodyPr wrap="none">
            <a:spAutoFit/>
          </a:bodyPr>
          <a:lstStyle/>
          <a:p>
            <a:pPr>
              <a:defRPr sz="900">
                <a:solidFill>
                  <a:srgbClr val="94A3B8"/>
                </a:solidFill>
                <a:latin typeface="Arial"/>
              </a:defRPr>
            </a:pPr>
            <a:r>
              <a:t>RAP Pre-Hackathon Submission | Slide 14 of 14</a:t>
            </a:r>
          </a:p>
        </p:txBody>
      </p:sp>
      <p:sp>
        <p:nvSpPr>
          <p:cNvPr id="4" name="Rectangle 3"/>
          <p:cNvSpPr/>
          <p:nvPr/>
        </p:nvSpPr>
        <p:spPr>
          <a:xfrm>
            <a:off x="731520" y="1554480"/>
            <a:ext cx="3413455" cy="438912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sz="1300" b="1">
                <a:solidFill>
                  <a:srgbClr val="34D399"/>
                </a:solidFill>
              </a:defRPr>
            </a:pPr>
            <a:r>
              <a:t>WHAT WORKS (VICTORIES)</a:t>
            </a:r>
          </a:p>
          <a:p>
            <a:pPr>
              <a:spcBef>
                <a:spcPts val="600"/>
              </a:spcBef>
              <a:defRPr sz="950">
                <a:solidFill>
                  <a:srgbClr val="F8FAFC"/>
                </a:solidFill>
              </a:defRPr>
            </a:pPr>
            <a:r>
              <a:t>• Fine-tuned RT-DETR-L on 5 logistics classes.</a:t>
            </a:r>
          </a:p>
          <a:p>
            <a:pPr>
              <a:spcBef>
                <a:spcPts val="600"/>
              </a:spcBef>
              <a:defRPr sz="950">
                <a:solidFill>
                  <a:srgbClr val="F8FAFC"/>
                </a:solidFill>
              </a:defRPr>
            </a:pPr>
            <a:r>
              <a:t>• 50.40% mAP@0.5 on held-out test set.</a:t>
            </a:r>
          </a:p>
          <a:p>
            <a:pPr>
              <a:spcBef>
                <a:spcPts val="600"/>
              </a:spcBef>
              <a:defRPr sz="950">
                <a:solidFill>
                  <a:srgbClr val="F8FAFC"/>
                </a:solidFill>
              </a:defRPr>
            </a:pPr>
            <a:r>
              <a:t>• Custom 4-stage post-processing pipeline.</a:t>
            </a:r>
          </a:p>
          <a:p>
            <a:pPr>
              <a:spcBef>
                <a:spcPts val="600"/>
              </a:spcBef>
              <a:defRPr sz="950">
                <a:solidFill>
                  <a:srgbClr val="F8FAFC"/>
                </a:solidFill>
              </a:defRPr>
            </a:pPr>
            <a:r>
              <a:t>• Deterministic Q&amp;A reasoning engine.</a:t>
            </a:r>
          </a:p>
          <a:p>
            <a:pPr>
              <a:spcBef>
                <a:spcPts val="600"/>
              </a:spcBef>
              <a:defRPr sz="950">
                <a:solidFill>
                  <a:srgbClr val="F8FAFC"/>
                </a:solidFill>
              </a:defRPr>
            </a:pPr>
            <a:r>
              <a:t>• 48 PyTest unit tests passing.</a:t>
            </a:r>
          </a:p>
          <a:p>
            <a:pPr>
              <a:spcBef>
                <a:spcPts val="600"/>
              </a:spcBef>
              <a:defRPr sz="950">
                <a:solidFill>
                  <a:srgbClr val="F8FAFC"/>
                </a:solidFill>
              </a:defRPr>
            </a:pPr>
            <a:r>
              <a:t>• Dockerized AWS EC2 deployment via Terraform.</a:t>
            </a:r>
          </a:p>
        </p:txBody>
      </p:sp>
      <p:sp>
        <p:nvSpPr>
          <p:cNvPr id="5" name="Rectangle 4"/>
          <p:cNvSpPr/>
          <p:nvPr/>
        </p:nvSpPr>
        <p:spPr>
          <a:xfrm>
            <a:off x="4389120" y="1554480"/>
            <a:ext cx="3413455" cy="438912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sz="1300" b="1">
                <a:solidFill>
                  <a:srgbClr val="F87171"/>
                </a:solidFill>
              </a:defRPr>
            </a:pPr>
            <a:r>
              <a:t>LIMITATIONS (CONSTRAINTS)</a:t>
            </a:r>
          </a:p>
          <a:p>
            <a:pPr>
              <a:spcBef>
                <a:spcPts val="600"/>
              </a:spcBef>
              <a:defRPr sz="950">
                <a:solidFill>
                  <a:srgbClr val="F8FAFC"/>
                </a:solidFill>
              </a:defRPr>
            </a:pPr>
            <a:r>
              <a:t>• Freight container mAP is low (16.83%).</a:t>
            </a:r>
          </a:p>
          <a:p>
            <a:pPr>
              <a:spcBef>
                <a:spcPts val="600"/>
              </a:spcBef>
              <a:defRPr sz="950">
                <a:solidFill>
                  <a:srgbClr val="F8FAFC"/>
                </a:solidFill>
              </a:defRPr>
            </a:pPr>
            <a:r>
              <a:t>• Cardboard box recall is low (28.30%).</a:t>
            </a:r>
          </a:p>
          <a:p>
            <a:pPr>
              <a:spcBef>
                <a:spcPts val="600"/>
              </a:spcBef>
              <a:defRPr sz="950">
                <a:solidFill>
                  <a:srgbClr val="F8FAFC"/>
                </a:solidFill>
              </a:defRPr>
            </a:pPr>
            <a:r>
              <a:t>• Configured 50 epochs; stopped at 10.</a:t>
            </a:r>
          </a:p>
          <a:p>
            <a:pPr>
              <a:spcBef>
                <a:spcPts val="600"/>
              </a:spcBef>
              <a:defRPr sz="950">
                <a:solidFill>
                  <a:srgbClr val="F8FAFC"/>
                </a:solidFill>
              </a:defRPr>
            </a:pPr>
            <a:r>
              <a:t>• CPU AWS instance limits throughput (~2s/img).</a:t>
            </a:r>
          </a:p>
          <a:p>
            <a:pPr>
              <a:spcBef>
                <a:spcPts val="600"/>
              </a:spcBef>
              <a:defRPr sz="950">
                <a:solidFill>
                  <a:srgbClr val="F8FAFC"/>
                </a:solidFill>
              </a:defRPr>
            </a:pPr>
            <a:r>
              <a:t>• HTTP deployment (no SSL domain active).</a:t>
            </a:r>
          </a:p>
        </p:txBody>
      </p:sp>
      <p:sp>
        <p:nvSpPr>
          <p:cNvPr id="6" name="Rectangle 5"/>
          <p:cNvSpPr/>
          <p:nvPr/>
        </p:nvSpPr>
        <p:spPr>
          <a:xfrm>
            <a:off x="8046720" y="1554480"/>
            <a:ext cx="3413455" cy="438912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sz="1300" b="1">
                <a:solidFill>
                  <a:srgbClr val="38BDF8"/>
                </a:solidFill>
              </a:defRPr>
            </a:pPr>
            <a:r>
              <a:t>FUTURE WORK (ROADMAP)</a:t>
            </a:r>
          </a:p>
          <a:p>
            <a:pPr>
              <a:spcBef>
                <a:spcPts val="600"/>
              </a:spcBef>
              <a:defRPr sz="950">
                <a:solidFill>
                  <a:srgbClr val="F8FAFC"/>
                </a:solidFill>
              </a:defRPr>
            </a:pPr>
            <a:r>
              <a:t>• Train full 50 epochs with cosine LR decay.</a:t>
            </a:r>
          </a:p>
          <a:p>
            <a:pPr>
              <a:spcBef>
                <a:spcPts val="600"/>
              </a:spcBef>
              <a:defRPr sz="950">
                <a:solidFill>
                  <a:srgbClr val="F8FAFC"/>
                </a:solidFill>
              </a:defRPr>
            </a:pPr>
            <a:r>
              <a:t>• Add hard negative freight container data.</a:t>
            </a:r>
          </a:p>
          <a:p>
            <a:pPr>
              <a:spcBef>
                <a:spcPts val="600"/>
              </a:spcBef>
              <a:defRPr sz="950">
                <a:solidFill>
                  <a:srgbClr val="F8FAFC"/>
                </a:solidFill>
              </a:defRPr>
            </a:pPr>
            <a:r>
              <a:t>• Implement class-weighted focal loss.</a:t>
            </a:r>
          </a:p>
          <a:p>
            <a:pPr>
              <a:spcBef>
                <a:spcPts val="600"/>
              </a:spcBef>
              <a:defRPr sz="950">
                <a:solidFill>
                  <a:srgbClr val="F8FAFC"/>
                </a:solidFill>
              </a:defRPr>
            </a:pPr>
            <a:r>
              <a:t>• Migrate to GPU EC2 instance (g4dn.xlarge).</a:t>
            </a:r>
          </a:p>
          <a:p>
            <a:pPr>
              <a:spcBef>
                <a:spcPts val="600"/>
              </a:spcBef>
              <a:defRPr sz="950">
                <a:solidFill>
                  <a:srgbClr val="F8FAFC"/>
                </a:solidFill>
              </a:defRPr>
            </a:pPr>
            <a:r>
              <a:t>• Configure domain name &amp; HTTPS certificates.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